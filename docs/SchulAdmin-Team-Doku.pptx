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Interne technische Dokumentation des SchulAdmin-Projekts. Zielgruppe: das Entwicklungsteam. Fokus: Architektur, Datenmodell, Sicherheitskonzept und offene Punkte.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Der Schwerpunkt liegt auf Kapitel 6 (Datenmodell, 5 Folien) und Kapitel 7/8 (Security &amp; nDSG).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Eckdaten stammen direkt aus dem Repo: 17 Prisma-Modelle, 10 Routen-Module in apps/backend/src/modules, 17 Page-Komponenten im Frontend. Rollen: LEHRPERSON und ABTEILUNGSLEITUNG.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Rollenverteilung: Cedric Frontend, Laurent Backend, Nima Fullstack + Projektleitung (arbeitet über beide Apps hinweg, pflegt packages/shared und führt das Projekt inkl. Klärung der offenen Punkte mit Frau Kianash), Nermin DevOps (Infrastruktur, Deployments, Betrieb).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Versionsstände aus den package.json: React 18.2, Vite 5, TanStack Query 5.17, Zustand 4.4, Express 4.18, Prisma 5.7, Zod 3.22, bcrypt 5.1, speakeasy 2.0, winston 3.11.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Reihenfolge aus app.ts: trust proxy, helmet (CSP + HSTS 1 Jahr), CORS-Whitelist mit credentials, cookie-parser, JSON-Limit 10 MB, Rate-Limit 200 Requests/15 Min/IP auf /api. Danach pro Route: authenticate → requireRole → validate → Controller; auditLog-Middleware protokolliert kritische Aktionen.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Jedes Backend-Modul folgt demselben 4-Dateien-Muster – neue Features sind dadurch mechanisch erweiterbar. Das notifications-Modul ist ein reiner Cron-Job ohne Routen.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Gesamtbild des Prisma-Schemas. Vier Zonen: Organisation (User, Class, Student, Subject), Unterricht mit Stundenplan-Subsystem, Noten mit Korrektur-Kette, Betrieb (AuditLog rot umrandet = append-only). Details je Zone auf den Folgefolien.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IDs sind cuid()-Strings. User und Student tragen deletedAt (Soft Delete). Class hat einen zusammengesetzten Unique-Constraint über name+semester+schoolYear, damit Klassen pro Semester eindeutig sind.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Tagesraster (Perioden + Pausen) pflegt die Abteilungsleitung zentral. TimetableSlot referenziert die Periodennummer logisch. onDelete: Cascade auf classId bei Slots und Ausnahmen – wird eine Klasse entfernt, verschwinden ihre Planzeilen 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Kern-Geschäftsregeln: Upsert-Absenzen über den Unique-Constraint, Arztzeugnis-Pflicht an Testtagen, Notensperre nach Eintragung, Korrektur ausschliesslich durch die Abteilungsleitung mit Pflichtbegründung + Audit-Eintrag.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AuditLog ist das nDSG-Rückgrat: 15 Aktionstypen, JSON-Snapshots vorher/nachher, IP und User-Agent. Config erlaubt Betriebsänderungen ohne Deployment. Die Patterns-Liste gilt schema-weit.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2FA ist für alle Benutzer Pflicht (Setup beim ersten Login: QR-Code via speakeasy/qrcode). Der Temp-Token trägt purpose "2fa" und berechtigt zu nichts anderem. Refresh-Rotation: refreshTokenHash in users wird bei jedem Refresh ersetzt.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Offen aus Compliance-Sicht (siehe Folie 16): Datenschutzbeauftragte(r) der Schule, konkrete Aufbewahrungsfristen nach Austritt, Frage des Schüler-Selbstzugriffs.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Testfokus liegt auf der Geschäftslogik (Noten, Absenzen, RBAC, Krypto). E2E-Tests sind ein möglicher Ausbau. Prod-Secrets (JWT, DB, ENCRYPTION_KEY) liegen in Railway/Vercel-Env, nie im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12 offenen Fragen aus docs/offene-punkte.md sind hier zu 6 Themen gebündelt. Sie blockieren gezielt einzelne Phasen – das Fundament (Datenmodell, Auth, Absenzen) ist davon unabhängig fertig.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Abschluss: Das Fundament steht – Datenmodell, Auth, Absenzen, Stundenplan. Die Roadmap hängt an den offenen Punkten mit der Schule. Fragen &amp; Diskussion.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4.png"/><Relationship Id="rId6" Type="http://schemas.openxmlformats.org/officeDocument/2006/relationships/image" Target="../media/image-12-4.png"/><Relationship Id="rId7" Type="http://schemas.openxmlformats.org/officeDocument/2006/relationships/image" Target="../media/image-12-4.png"/><Relationship Id="rId8" Type="http://schemas.openxmlformats.org/officeDocument/2006/relationships/image" Target="../media/image-12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2.png"/><Relationship Id="rId5" Type="http://schemas.openxmlformats.org/officeDocument/2006/relationships/image" Target="../media/image-14-5.png"/><Relationship Id="rId6" Type="http://schemas.openxmlformats.org/officeDocument/2006/relationships/image" Target="../media/image-14-2.png"/><Relationship Id="rId7" Type="http://schemas.openxmlformats.org/officeDocument/2006/relationships/image" Target="../media/image-14-7.png"/><Relationship Id="rId8" Type="http://schemas.openxmlformats.org/officeDocument/2006/relationships/image" Target="../media/image-14-2.png"/><Relationship Id="rId9" Type="http://schemas.openxmlformats.org/officeDocument/2006/relationships/image" Target="../media/image-14-9.png"/><Relationship Id="rId10" Type="http://schemas.openxmlformats.org/officeDocument/2006/relationships/image" Target="../media/image-14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8321040" y="-822960"/>
            <a:ext cx="4937760" cy="4937760"/>
          </a:xfrm>
          <a:prstGeom prst="roundRect">
            <a:avLst>
              <a:gd name="adj" fmla="val 4630"/>
            </a:avLst>
          </a:prstGeom>
          <a:solidFill>
            <a:srgbClr val="22355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480000">
            <a:off x="9509760" y="3108960"/>
            <a:ext cx="4206240" cy="4206240"/>
          </a:xfrm>
          <a:prstGeom prst="roundRect">
            <a:avLst>
              <a:gd name="adj" fmla="val 5435"/>
            </a:avLst>
          </a:prstGeom>
          <a:solidFill>
            <a:srgbClr val="223558">
              <a:alpha val="30000"/>
            </a:srgbClr>
          </a:solidFill>
          <a:ln/>
        </p:spPr>
      </p:sp>
      <p:pic>
        <p:nvPicPr>
          <p:cNvPr id="4" name="Image 0" descr="/home/claude/schuladmin-praesi/icons/shield-ice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9921240" y="10515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704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 TEAM-DOKUMENTATION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</a:t>
            </a:r>
            <a:pPr algn="l" indent="0" marL="0">
              <a:buNone/>
            </a:pPr>
            <a:r>
              <a:rPr lang="en-US" sz="5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40080" y="254203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Datenschutzkonformes Schulverwaltungssystem für die</a:t>
            </a:r>
            <a:endParaRPr lang="en-US" sz="15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Bénédict Zürich – Absenzen, Noten und Stundenpläne nach nDSG.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40080" y="3611880"/>
            <a:ext cx="910742" cy="329184"/>
          </a:xfrm>
          <a:prstGeom prst="roundRect">
            <a:avLst>
              <a:gd name="adj" fmla="val 50000"/>
            </a:avLst>
          </a:prstGeom>
          <a:solidFill>
            <a:srgbClr val="223558"/>
          </a:solidFill>
          <a:ln w="9525">
            <a:solidFill>
              <a:srgbClr val="39527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611880"/>
            <a:ext cx="9107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18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697126" y="3611880"/>
            <a:ext cx="1210666" cy="329184"/>
          </a:xfrm>
          <a:prstGeom prst="roundRect">
            <a:avLst>
              <a:gd name="adj" fmla="val 50000"/>
            </a:avLst>
          </a:prstGeom>
          <a:solidFill>
            <a:srgbClr val="223558"/>
          </a:solidFill>
          <a:ln w="9525">
            <a:solidFill>
              <a:srgbClr val="39527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97126" y="3611880"/>
            <a:ext cx="12106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 5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054096" y="3611880"/>
            <a:ext cx="985723" cy="329184"/>
          </a:xfrm>
          <a:prstGeom prst="roundRect">
            <a:avLst>
              <a:gd name="adj" fmla="val 50000"/>
            </a:avLst>
          </a:prstGeom>
          <a:solidFill>
            <a:srgbClr val="223558"/>
          </a:solidFill>
          <a:ln w="9525">
            <a:solidFill>
              <a:srgbClr val="39527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54096" y="3611880"/>
            <a:ext cx="9857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 4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86123" y="3611880"/>
            <a:ext cx="910742" cy="329184"/>
          </a:xfrm>
          <a:prstGeom prst="roundRect">
            <a:avLst>
              <a:gd name="adj" fmla="val 50000"/>
            </a:avLst>
          </a:prstGeom>
          <a:solidFill>
            <a:srgbClr val="223558"/>
          </a:solidFill>
          <a:ln w="9525">
            <a:solidFill>
              <a:srgbClr val="39527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86123" y="3611880"/>
            <a:ext cx="9107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 5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243170" y="3611880"/>
            <a:ext cx="835762" cy="329184"/>
          </a:xfrm>
          <a:prstGeom prst="roundRect">
            <a:avLst>
              <a:gd name="adj" fmla="val 50000"/>
            </a:avLst>
          </a:prstGeom>
          <a:solidFill>
            <a:srgbClr val="223558"/>
          </a:solidFill>
          <a:ln w="9525">
            <a:solidFill>
              <a:srgbClr val="39527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43170" y="3611880"/>
            <a:ext cx="8357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8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25235" y="3611880"/>
            <a:ext cx="760781" cy="329184"/>
          </a:xfrm>
          <a:prstGeom prst="roundRect">
            <a:avLst>
              <a:gd name="adj" fmla="val 50000"/>
            </a:avLst>
          </a:prstGeom>
          <a:solidFill>
            <a:srgbClr val="223558"/>
          </a:solidFill>
          <a:ln w="9525">
            <a:solidFill>
              <a:srgbClr val="39527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25235" y="3611880"/>
            <a:ext cx="7607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" y="4617720"/>
            <a:ext cx="7315200" cy="0"/>
          </a:xfrm>
          <a:prstGeom prst="line">
            <a:avLst/>
          </a:prstGeom>
          <a:noFill/>
          <a:ln w="9525">
            <a:solidFill>
              <a:srgbClr val="39527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48463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0080" y="51389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788920" y="48463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Laurent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788920" y="51389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937760" y="48463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937760" y="51389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Developer &amp; Projektleitung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086600" y="48463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Nermin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086600" y="51389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40080" y="6172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Stand: 18. August 2026  ·  github.com/Nerminnnnn/SchulToolKienast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 · Interne Team-Dokumentation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519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" y="1545336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home/claude/schuladmin-praesi/icons/dashboar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411" y="1668963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61288" y="14813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73352" y="14630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Projektüberblick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Zweck, Kernfunktionen, Eckdaten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" y="2359152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7784" y="2532888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1" descr="/home/claude/schuladmin-praesi/icons/user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11" y="2656515"/>
            <a:ext cx="228234" cy="2282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61288" y="246888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673352" y="245059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Rollenverteilung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verantwortet was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11480" y="3346704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57784" y="3520440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2" descr="/home/claude/schuladmin-praesi/icons/layer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11" y="3644067"/>
            <a:ext cx="228234" cy="2282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61288" y="3456432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673352" y="343814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Tech-Stack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Backend · Infrastruktur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11480" y="4334256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57784" y="4507992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3" name="Image 3" descr="/home/claude/schuladmin-praesi/icons/networ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411" y="4631619"/>
            <a:ext cx="228234" cy="22823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61288" y="444398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673352" y="442569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Systemarchitektur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→ REST-API → MySQL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11480" y="5321808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57784" y="549554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8" name="Image 4" descr="/home/claude/schuladmin-praesi/icons/gitbranch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411" y="5619171"/>
            <a:ext cx="228234" cy="22823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61288" y="543153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1673352" y="541324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&amp; Module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 und packages/shared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6172200" y="1371600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EEF4FC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318504" y="1545336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3" name="Image 5" descr="/home/claude/schuladmin-praesi/icons/database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2131" y="1668963"/>
            <a:ext cx="228234" cy="22823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22008" y="14813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7434072" y="14630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Datenmodell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ERD-Gesamtbild + 4 Detailfolien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6172200" y="2359152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318504" y="2532888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8" name="Image 6" descr="/home/claude/schuladmin-praesi/icons/key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2131" y="2656515"/>
            <a:ext cx="228234" cy="22823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922008" y="246888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 dirty="0"/>
          </a:p>
        </p:txBody>
      </p:sp>
      <p:sp>
        <p:nvSpPr>
          <p:cNvPr id="40" name="Text 31"/>
          <p:cNvSpPr/>
          <p:nvPr/>
        </p:nvSpPr>
        <p:spPr>
          <a:xfrm>
            <a:off x="7434072" y="245059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TOTP-2FA, Härtung</a:t>
            </a:r>
            <a:endParaRPr lang="en-US" sz="1300" dirty="0"/>
          </a:p>
        </p:txBody>
      </p:sp>
      <p:sp>
        <p:nvSpPr>
          <p:cNvPr id="41" name="Shape 32"/>
          <p:cNvSpPr/>
          <p:nvPr/>
        </p:nvSpPr>
        <p:spPr>
          <a:xfrm>
            <a:off x="6172200" y="3346704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6318504" y="3520440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3" name="Image 7" descr="/home/claude/schuladmin-praesi/icons/scale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2131" y="3644067"/>
            <a:ext cx="228234" cy="228234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922008" y="3456432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500" dirty="0"/>
          </a:p>
        </p:txBody>
      </p:sp>
      <p:sp>
        <p:nvSpPr>
          <p:cNvPr id="45" name="Text 35"/>
          <p:cNvSpPr/>
          <p:nvPr/>
        </p:nvSpPr>
        <p:spPr>
          <a:xfrm>
            <a:off x="7434072" y="343814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nDSG-Compliance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Delete, Audit-Log, Verschlüsselung</a:t>
            </a:r>
            <a:endParaRPr lang="en-US" sz="1300" dirty="0"/>
          </a:p>
        </p:txBody>
      </p:sp>
      <p:sp>
        <p:nvSpPr>
          <p:cNvPr id="46" name="Shape 36"/>
          <p:cNvSpPr/>
          <p:nvPr/>
        </p:nvSpPr>
        <p:spPr>
          <a:xfrm>
            <a:off x="6172200" y="4334256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6318504" y="4507992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8" name="Image 8" descr="/home/claude/schuladmin-praesi/icons/flask-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2131" y="4631619"/>
            <a:ext cx="228234" cy="228234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6922008" y="444398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500" dirty="0"/>
          </a:p>
        </p:txBody>
      </p:sp>
      <p:sp>
        <p:nvSpPr>
          <p:cNvPr id="50" name="Text 39"/>
          <p:cNvSpPr/>
          <p:nvPr/>
        </p:nvSpPr>
        <p:spPr>
          <a:xfrm>
            <a:off x="7434072" y="442569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 &amp; Betrieb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Docker, Deployment, Logging</a:t>
            </a:r>
            <a:endParaRPr lang="en-US" sz="1300" dirty="0"/>
          </a:p>
        </p:txBody>
      </p:sp>
      <p:sp>
        <p:nvSpPr>
          <p:cNvPr id="51" name="Shape 40"/>
          <p:cNvSpPr/>
          <p:nvPr/>
        </p:nvSpPr>
        <p:spPr>
          <a:xfrm>
            <a:off x="6172200" y="5321808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6318504" y="549554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3" name="Image 9" descr="/home/claude/schuladmin-praesi/icons/rocket-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2131" y="5619171"/>
            <a:ext cx="228234" cy="228234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6922008" y="543153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55" name="Text 43"/>
          <p:cNvSpPr/>
          <p:nvPr/>
        </p:nvSpPr>
        <p:spPr>
          <a:xfrm>
            <a:off x="7434072" y="541324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Punkte &amp; Roadmap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Klärungen mit der Schule, Phasen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PROJEKTÜBERBLICK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SchulAdmin ist – und warum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 · Interne Team-Dokumentation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519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Ausgangslage.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IT Bénédict Zürich verwaltet Absenzen, Noten und Stundenpläne bisher verteilt und manuell. SchulAdmin führt diese Prozesse in einer Web-App zusammen – für Lehrpersonen und Abteilungsleitung.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2304288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Besonderheit.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System verarbeitet sensible Personendaten von Schülerinnen und Schülern, teils Minderjährigen. Es ist deshalb konsequent auf das revidierte Schweizer Datenschutzgesetz (nDSG, in Kraft seit 01.09.2023) ausgelegt.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Kernfunktionen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785616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0" name="Image 0" descr="/home/claude/schuladmin-praesi/icons/clipboar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842" y="3894978"/>
            <a:ext cx="201900" cy="2019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3739896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Absenzverwaltung  — 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Erfassung pro Lektion, Entschuldigungs-Workflow, Arztzeugnis-Pflicht an Testtagen, Schwellenwert-Alarm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" y="4443984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1" descr="/home/claude/schuladmin-praesi/icons/gradcap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42" y="4553346"/>
            <a:ext cx="201900" cy="201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4398264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Notenverwaltung  — 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Schweizer Skala 1.0–6.0, gewichtete Kategorien, Notensperre mit protokollierter Korrektur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11480" y="5102352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/home/claude/schuladmin-praesi/icons/calendar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42" y="5211714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5056632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Stundenplan  — 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Wochenvorlage pro Klasse, Ausnahmen pro Datum, Feiertage, Druckansicht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11480" y="5760720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9" name="Image 3" descr="/home/claude/schuladmin-praesi/icons/sheet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42" y="5870082"/>
            <a:ext cx="201900" cy="2019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5715000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 &amp; Zeugnisse  — 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PDF/Excel-Exporte, Zeugnisdruck, Absenzen-Statistik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446520" y="1371600"/>
            <a:ext cx="2560320" cy="1335024"/>
          </a:xfrm>
          <a:prstGeom prst="roundRect">
            <a:avLst>
              <a:gd name="adj" fmla="val 4795"/>
            </a:avLst>
          </a:prstGeom>
          <a:solidFill>
            <a:srgbClr val="EEF4FC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6611112" y="146304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4000" dirty="0"/>
          </a:p>
        </p:txBody>
      </p:sp>
      <p:sp>
        <p:nvSpPr>
          <p:cNvPr id="23" name="Text 17"/>
          <p:cNvSpPr/>
          <p:nvPr/>
        </p:nvSpPr>
        <p:spPr>
          <a:xfrm>
            <a:off x="6611112" y="212140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Datenbank-Entitäten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5 · MySQL 8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144000" y="1371600"/>
            <a:ext cx="2560320" cy="1335024"/>
          </a:xfrm>
          <a:prstGeom prst="roundRect">
            <a:avLst>
              <a:gd name="adj" fmla="val 4795"/>
            </a:avLst>
          </a:prstGeom>
          <a:solidFill>
            <a:srgbClr val="EEF4FC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9308592" y="146304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000" dirty="0"/>
          </a:p>
        </p:txBody>
      </p:sp>
      <p:sp>
        <p:nvSpPr>
          <p:cNvPr id="26" name="Text 20"/>
          <p:cNvSpPr/>
          <p:nvPr/>
        </p:nvSpPr>
        <p:spPr>
          <a:xfrm>
            <a:off x="9308592" y="212140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REST-API-Module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 /api/v1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446520" y="2852928"/>
            <a:ext cx="2560320" cy="1335024"/>
          </a:xfrm>
          <a:prstGeom prst="roundRect">
            <a:avLst>
              <a:gd name="adj" fmla="val 4795"/>
            </a:avLst>
          </a:prstGeom>
          <a:solidFill>
            <a:srgbClr val="EEF4FC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6611112" y="29443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4000" dirty="0"/>
          </a:p>
        </p:txBody>
      </p:sp>
      <p:sp>
        <p:nvSpPr>
          <p:cNvPr id="29" name="Text 23"/>
          <p:cNvSpPr/>
          <p:nvPr/>
        </p:nvSpPr>
        <p:spPr>
          <a:xfrm>
            <a:off x="6611112" y="360273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Frontend-Views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lazy-loaded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144000" y="2852928"/>
            <a:ext cx="2560320" cy="1335024"/>
          </a:xfrm>
          <a:prstGeom prst="roundRect">
            <a:avLst>
              <a:gd name="adj" fmla="val 4795"/>
            </a:avLst>
          </a:prstGeom>
          <a:solidFill>
            <a:srgbClr val="EEF4FC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9308592" y="29443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32" name="Text 26"/>
          <p:cNvSpPr/>
          <p:nvPr/>
        </p:nvSpPr>
        <p:spPr>
          <a:xfrm>
            <a:off x="9308592" y="360273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 mit RBAC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Lehrperson · Abteilungsleitung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644652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pic>
        <p:nvPicPr>
          <p:cNvPr id="34" name="Image 4" descr="/home/claude/schuladmin-praesi/icons/shield-i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4709160"/>
            <a:ext cx="566928" cy="56692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498080" y="461772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nDSG als Leitplanke, nicht als Nachtrag</a:t>
            </a:r>
            <a:endParaRPr lang="en-US" sz="13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statt Löschen, unveränderliches Audit-Log, verschlüsselte 2FA-Secrets und Pflicht-2FA sind direkt ins Datenmodell und die Architektur eingebaut.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TEAM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Rollenverteilung im Projekt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 · Interne Team-Dokumentation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519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2743200" cy="484632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609344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home/claude/schuladmin-praesi/icons/monito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824" y="1780520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99032" y="16093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399032" y="19385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860" dirty="0"/>
          </a:p>
        </p:txBody>
      </p:sp>
      <p:sp>
        <p:nvSpPr>
          <p:cNvPr id="11" name="Shape 8"/>
          <p:cNvSpPr/>
          <p:nvPr/>
        </p:nvSpPr>
        <p:spPr>
          <a:xfrm>
            <a:off x="612648" y="2487168"/>
            <a:ext cx="2340864" cy="0"/>
          </a:xfrm>
          <a:prstGeom prst="line">
            <a:avLst/>
          </a:prstGeom>
          <a:noFill/>
          <a:ln w="9525">
            <a:solidFill>
              <a:srgbClr val="C9D7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" y="2633472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React-Views &amp; UI-Komponenten (shadcn/ui, Radix, Tailwind)</a:t>
            </a:r>
            <a:endParaRPr lang="en-US" sz="1000" dirty="0"/>
          </a:p>
          <a:p>
            <a:pPr marL="127000" indent="-1270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Server-State mit TanStack Query, UI-State mit Zustand</a:t>
            </a:r>
            <a:endParaRPr lang="en-US" sz="1000" dirty="0"/>
          </a:p>
          <a:p>
            <a:pPr marL="127000" indent="-1270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Formulare &amp; Client-Validierung (React Hook Form + Zod)</a:t>
            </a:r>
            <a:endParaRPr lang="en-US" sz="1000" dirty="0"/>
          </a:p>
          <a:p>
            <a:pPr marL="127000" indent="-1270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Druckansichten: Stundenplan &amp; Zeugnis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" y="5349240"/>
            <a:ext cx="2340864" cy="0"/>
          </a:xfrm>
          <a:prstGeom prst="line">
            <a:avLst/>
          </a:prstGeom>
          <a:noFill/>
          <a:ln w="9525">
            <a:solidFill>
              <a:srgbClr val="C9D7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" y="5431536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5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REPO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612648" y="56144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src/pages · components/ui</a:t>
            </a:r>
            <a:endParaRPr lang="en-US" sz="82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store/ · index.css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3319272" y="1371600"/>
            <a:ext cx="2743200" cy="484632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520440" y="1609344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1" descr="/home/claude/schuladmin-praesi/icons/server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616" y="1780520"/>
            <a:ext cx="316017" cy="31601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306824" y="16093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Laurent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4306824" y="19385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860" dirty="0"/>
          </a:p>
        </p:txBody>
      </p:sp>
      <p:sp>
        <p:nvSpPr>
          <p:cNvPr id="21" name="Shape 17"/>
          <p:cNvSpPr/>
          <p:nvPr/>
        </p:nvSpPr>
        <p:spPr>
          <a:xfrm>
            <a:off x="3520440" y="2487168"/>
            <a:ext cx="2340864" cy="0"/>
          </a:xfrm>
          <a:prstGeom prst="line">
            <a:avLst/>
          </a:prstGeom>
          <a:noFill/>
          <a:ln w="9525">
            <a:solidFill>
              <a:srgbClr val="C9D7E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20440" y="2633472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Express-Module: Routes · Controller · Service · Schemas</a:t>
            </a:r>
            <a:endParaRPr lang="en-US" sz="1000" dirty="0"/>
          </a:p>
          <a:p>
            <a:pPr marL="127000" indent="-1270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Prisma-Schema, Migrationen &amp; Seed-Daten</a:t>
            </a:r>
            <a:endParaRPr lang="en-US" sz="1000" dirty="0"/>
          </a:p>
          <a:p>
            <a:pPr marL="127000" indent="-1270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Geschäftslogik Absenzen, Noten &amp; Stundenplan-Auflösung</a:t>
            </a:r>
            <a:endParaRPr lang="en-US" sz="1000" dirty="0"/>
          </a:p>
          <a:p>
            <a:pPr marL="127000" indent="-1270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 (PDF/Excel) &amp; Cron-Job Schwellenwert-Check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520440" y="5349240"/>
            <a:ext cx="2340864" cy="0"/>
          </a:xfrm>
          <a:prstGeom prst="line">
            <a:avLst/>
          </a:prstGeom>
          <a:noFill/>
          <a:ln w="9525">
            <a:solidFill>
              <a:srgbClr val="C9D7E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20440" y="5431536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5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REPO</a:t>
            </a:r>
            <a:endParaRPr lang="en-US" sz="740" dirty="0"/>
          </a:p>
        </p:txBody>
      </p:sp>
      <p:sp>
        <p:nvSpPr>
          <p:cNvPr id="25" name="Text 21"/>
          <p:cNvSpPr/>
          <p:nvPr/>
        </p:nvSpPr>
        <p:spPr>
          <a:xfrm>
            <a:off x="3520440" y="56144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src/modules · prisma/</a:t>
            </a:r>
            <a:endParaRPr lang="en-US" sz="82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utils/ · tests/unit</a:t>
            </a:r>
            <a:endParaRPr lang="en-US" sz="820" dirty="0"/>
          </a:p>
        </p:txBody>
      </p:sp>
      <p:sp>
        <p:nvSpPr>
          <p:cNvPr id="26" name="Shape 22"/>
          <p:cNvSpPr/>
          <p:nvPr/>
        </p:nvSpPr>
        <p:spPr>
          <a:xfrm>
            <a:off x="6227064" y="1371600"/>
            <a:ext cx="2743200" cy="4846320"/>
          </a:xfrm>
          <a:prstGeom prst="roundRect">
            <a:avLst>
              <a:gd name="adj" fmla="val 2333"/>
            </a:avLst>
          </a:prstGeom>
          <a:solidFill>
            <a:srgbClr val="EEF4FC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428232" y="1609344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8" name="Image 2" descr="/home/claude/schuladmin-praesi/icons/layer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408" y="1780520"/>
            <a:ext cx="316017" cy="316017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214616" y="16093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</a:t>
            </a:r>
            <a:endParaRPr lang="en-US" sz="1700" dirty="0"/>
          </a:p>
        </p:txBody>
      </p:sp>
      <p:sp>
        <p:nvSpPr>
          <p:cNvPr id="30" name="Text 25"/>
          <p:cNvSpPr/>
          <p:nvPr/>
        </p:nvSpPr>
        <p:spPr>
          <a:xfrm>
            <a:off x="7214616" y="19385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DEVELOPER &amp; PROJEKTLEITUNG</a:t>
            </a:r>
            <a:endParaRPr lang="en-US" sz="860" dirty="0"/>
          </a:p>
        </p:txBody>
      </p:sp>
      <p:sp>
        <p:nvSpPr>
          <p:cNvPr id="31" name="Shape 26"/>
          <p:cNvSpPr/>
          <p:nvPr/>
        </p:nvSpPr>
        <p:spPr>
          <a:xfrm>
            <a:off x="6428232" y="2487168"/>
            <a:ext cx="2340864" cy="0"/>
          </a:xfrm>
          <a:prstGeom prst="line">
            <a:avLst/>
          </a:prstGeom>
          <a:noFill/>
          <a:ln w="9525">
            <a:solidFill>
              <a:srgbClr val="C9D7EC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428232" y="2633472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Projektleitung: Planung, Priorisierung &amp; Code-Reviews</a:t>
            </a:r>
            <a:endParaRPr lang="en-US" sz="1000" dirty="0"/>
          </a:p>
          <a:p>
            <a:pPr marL="127000" indent="-1270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End-to-End über Frontend und Backend</a:t>
            </a:r>
            <a:endParaRPr lang="en-US" sz="1000" dirty="0"/>
          </a:p>
          <a:p>
            <a:pPr marL="127000" indent="-1270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packages/shared: gemeinsame Types &amp; Zod-Schemas</a:t>
            </a:r>
            <a:endParaRPr lang="en-US" sz="1000" dirty="0"/>
          </a:p>
          <a:p>
            <a:pPr marL="127000" indent="-1270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Auth-Flow-Integration: JWT, Refresh-Cookie, TOTP-2FA</a:t>
            </a:r>
            <a:endParaRPr lang="en-US" sz="1000" dirty="0"/>
          </a:p>
          <a:p>
            <a:pPr marL="127000" indent="-1270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Anforderungsklärung mit der Schule (offene Punkte)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428232" y="5349240"/>
            <a:ext cx="2340864" cy="0"/>
          </a:xfrm>
          <a:prstGeom prst="line">
            <a:avLst/>
          </a:prstGeom>
          <a:noFill/>
          <a:ln w="9525">
            <a:solidFill>
              <a:srgbClr val="C9D7EC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28232" y="5431536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5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REPO</a:t>
            </a:r>
            <a:endParaRPr lang="en-US" sz="740" dirty="0"/>
          </a:p>
        </p:txBody>
      </p:sp>
      <p:sp>
        <p:nvSpPr>
          <p:cNvPr id="35" name="Text 30"/>
          <p:cNvSpPr/>
          <p:nvPr/>
        </p:nvSpPr>
        <p:spPr>
          <a:xfrm>
            <a:off x="6428232" y="56144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packages/shared · auth.service.ts</a:t>
            </a:r>
            <a:endParaRPr lang="en-US" sz="82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api/client.ts · docs/</a:t>
            </a:r>
            <a:endParaRPr lang="en-US" sz="820" dirty="0"/>
          </a:p>
        </p:txBody>
      </p:sp>
      <p:sp>
        <p:nvSpPr>
          <p:cNvPr id="36" name="Shape 31"/>
          <p:cNvSpPr/>
          <p:nvPr/>
        </p:nvSpPr>
        <p:spPr>
          <a:xfrm>
            <a:off x="9134856" y="1371600"/>
            <a:ext cx="2743200" cy="484632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9336024" y="1609344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8" name="Image 3" descr="/home/claude/schuladmin-praesi/icons/settings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7200" y="1780520"/>
            <a:ext cx="316017" cy="316017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0122408" y="16093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Nermin</a:t>
            </a:r>
            <a:endParaRPr lang="en-US" sz="1700" dirty="0"/>
          </a:p>
        </p:txBody>
      </p:sp>
      <p:sp>
        <p:nvSpPr>
          <p:cNvPr id="40" name="Text 34"/>
          <p:cNvSpPr/>
          <p:nvPr/>
        </p:nvSpPr>
        <p:spPr>
          <a:xfrm>
            <a:off x="10122408" y="19385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</a:t>
            </a:r>
            <a:endParaRPr lang="en-US" sz="860" dirty="0"/>
          </a:p>
        </p:txBody>
      </p:sp>
      <p:sp>
        <p:nvSpPr>
          <p:cNvPr id="41" name="Shape 35"/>
          <p:cNvSpPr/>
          <p:nvPr/>
        </p:nvSpPr>
        <p:spPr>
          <a:xfrm>
            <a:off x="9336024" y="2487168"/>
            <a:ext cx="2340864" cy="0"/>
          </a:xfrm>
          <a:prstGeom prst="line">
            <a:avLst/>
          </a:prstGeom>
          <a:noFill/>
          <a:ln w="9525">
            <a:solidFill>
              <a:srgbClr val="C9D7EC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9336024" y="2633472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(Dev) · Railway &amp; Vercel (Prod)</a:t>
            </a:r>
            <a:endParaRPr lang="en-US" sz="1000" dirty="0"/>
          </a:p>
          <a:p>
            <a:pPr marL="127000" indent="-1270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Environments, Secrets &amp; Deployment-Konfiguration</a:t>
            </a:r>
            <a:endParaRPr lang="en-US" sz="1000" dirty="0"/>
          </a:p>
          <a:p>
            <a:pPr marL="127000" indent="-1270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Logging-/Audit-Konzept &amp; Health-Monitoring</a:t>
            </a:r>
            <a:endParaRPr lang="en-US" sz="1000" dirty="0"/>
          </a:p>
          <a:p>
            <a:pPr marL="127000" indent="-1270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Übergabedokumentation &amp; Betriebshandbuch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9336024" y="5349240"/>
            <a:ext cx="2340864" cy="0"/>
          </a:xfrm>
          <a:prstGeom prst="line">
            <a:avLst/>
          </a:prstGeom>
          <a:noFill/>
          <a:ln w="9525">
            <a:solidFill>
              <a:srgbClr val="C9D7EC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9336024" y="5431536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5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REPO</a:t>
            </a:r>
            <a:endParaRPr lang="en-US" sz="740" dirty="0"/>
          </a:p>
        </p:txBody>
      </p:sp>
      <p:sp>
        <p:nvSpPr>
          <p:cNvPr id="45" name="Text 39"/>
          <p:cNvSpPr/>
          <p:nvPr/>
        </p:nvSpPr>
        <p:spPr>
          <a:xfrm>
            <a:off x="9336024" y="56144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docker-compose*.yml · railway.toml</a:t>
            </a:r>
            <a:endParaRPr lang="en-US" sz="82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vercel.json · Dockerfile.*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TECH-STACK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TypeScript-Stack, drei Schichten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 · Interne Team-Dokumentation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519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712464" cy="45720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57276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home/claude/schuladmin-praesi/icons/monito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497" y="170590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517904"/>
            <a:ext cx="2752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apps/frontend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94360" y="2304288"/>
            <a:ext cx="3346704" cy="0"/>
          </a:xfrm>
          <a:prstGeom prst="line">
            <a:avLst/>
          </a:prstGeom>
          <a:noFill/>
          <a:ln w="9525">
            <a:solidFill>
              <a:srgbClr val="C9D7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2450592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5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SPA, Code-Splitting via lazy()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4360" y="3017520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 + shadcn/ui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Radix-Primitives, cva, lucide-react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" y="3584448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5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Server-Cache, Invalidierung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4360" y="4151376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4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Auth-/UI-/Toast-Stores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94360" y="4718304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+ Zod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Formulare mit Schema-Validierung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4360" y="5285232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6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ProtectedRoute + Rollen-Guards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88536" y="1371600"/>
            <a:ext cx="3712464" cy="45720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471416" y="157276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9" name="Image 1" descr="/home/claude/schuladmin-praesi/icons/server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553" y="1705905"/>
            <a:ext cx="245791" cy="24579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11496" y="1517904"/>
            <a:ext cx="2752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apps/backend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4471416" y="2304288"/>
            <a:ext cx="3346704" cy="0"/>
          </a:xfrm>
          <a:prstGeom prst="line">
            <a:avLst/>
          </a:prstGeom>
          <a:noFill/>
          <a:ln w="9525">
            <a:solidFill>
              <a:srgbClr val="C9D7E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471416" y="2450592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LTS + Express 4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REST-API unter /api/v1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471416" y="3017520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5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ORM, Migrationen, Seed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471416" y="3584448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3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Request-Validierung (shared)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471416" y="4151376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jsonwebtoken + speakeasy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&amp; TOTP-2FA, qrcode-Setup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471416" y="4718304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(12 Rounds)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Passwort-Hashing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471416" y="5285232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+ node-cron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strukturierte Logs, 07:00-Job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165592" y="1371600"/>
            <a:ext cx="3712464" cy="45720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348472" y="157276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0" name="Image 2" descr="/home/claude/schuladmin-praesi/icons/databas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609" y="1705905"/>
            <a:ext cx="245791" cy="245791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988552" y="1517904"/>
            <a:ext cx="2752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&amp; Infrastruktur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· Railway · Vercel</a:t>
            </a:r>
            <a:endParaRPr lang="en-US" sz="1450" dirty="0"/>
          </a:p>
        </p:txBody>
      </p:sp>
      <p:sp>
        <p:nvSpPr>
          <p:cNvPr id="32" name="Shape 27"/>
          <p:cNvSpPr/>
          <p:nvPr/>
        </p:nvSpPr>
        <p:spPr>
          <a:xfrm>
            <a:off x="8348472" y="2304288"/>
            <a:ext cx="3346704" cy="0"/>
          </a:xfrm>
          <a:prstGeom prst="line">
            <a:avLst/>
          </a:prstGeom>
          <a:noFill/>
          <a:ln w="9525">
            <a:solidFill>
              <a:srgbClr val="C9D7EC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348472" y="2450592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Docker-Volume, Healthcheck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8348472" y="3017520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+ backend + frontend (Dev)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8348472" y="3584448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Backend-Prod, migrate deploy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8348472" y="4151376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Frontend-Prod (vercel.json)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8348472" y="4718304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pdfkit · docxtemplater · xlsx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 &amp; Zeugnisse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8348472" y="5285232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puppeteer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HTML→PDF für Druckansichten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411480" y="6053328"/>
            <a:ext cx="11365992" cy="384048"/>
          </a:xfrm>
          <a:prstGeom prst="roundRect">
            <a:avLst>
              <a:gd name="adj" fmla="val 16667"/>
            </a:avLst>
          </a:prstGeom>
          <a:solidFill>
            <a:srgbClr val="EEF4FC"/>
          </a:solidFill>
          <a:ln/>
        </p:spPr>
      </p:sp>
      <p:sp>
        <p:nvSpPr>
          <p:cNvPr id="40" name="Text 35"/>
          <p:cNvSpPr/>
          <p:nvPr/>
        </p:nvSpPr>
        <p:spPr>
          <a:xfrm>
            <a:off x="594360" y="60533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Geteilt über packages/shared: </a:t>
            </a:r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 überall · Zod-Schemas und Entity-Types werden von Frontend und Backend gemeinsam importiert – eine Validierungsquelle, kein Drift.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ARCHITEKTUR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Systemarchitektur &amp; Request-Pipeline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 · Interne Team-Dokumentation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519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984248"/>
            <a:ext cx="1554480" cy="1280160"/>
          </a:xfrm>
          <a:prstGeom prst="roundRect">
            <a:avLst>
              <a:gd name="adj" fmla="val 5000"/>
            </a:avLst>
          </a:prstGeom>
          <a:solidFill>
            <a:srgbClr val="EEF4FC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6712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home/claude/schuladmin-praesi/icons/us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309774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7797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Lehrperson · Leitung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14600" y="1481328"/>
            <a:ext cx="28346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97480" y="16459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/home/claude/schuladmin-praesi/icons/monitor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76479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46120" y="160934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300" dirty="0"/>
          </a:p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Tailwind · shadcn/ui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697480" y="225856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lnSpc>
                <a:spcPts val="1250"/>
              </a:lnSpc>
              <a:buSzPct val="100000"/>
              <a:buChar char="•"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(Server-State)</a:t>
            </a:r>
            <a:endParaRPr lang="en-US" sz="900" dirty="0"/>
          </a:p>
          <a:p>
            <a:pPr marL="101600" indent="-101600">
              <a:lnSpc>
                <a:spcPts val="1250"/>
              </a:lnSpc>
              <a:buSzPct val="100000"/>
              <a:buChar char="•"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(Auth/UI-Stores)</a:t>
            </a:r>
            <a:endParaRPr lang="en-US" sz="900" dirty="0"/>
          </a:p>
          <a:p>
            <a:pPr marL="101600" indent="-101600">
              <a:lnSpc>
                <a:spcPts val="1250"/>
              </a:lnSpc>
              <a:buSzPct val="100000"/>
              <a:buChar char="•"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ProtectedRoute + Rollen-Guard</a:t>
            </a:r>
            <a:endParaRPr lang="en-US" sz="900" dirty="0"/>
          </a:p>
          <a:p>
            <a:pPr marL="101600" indent="-101600">
              <a:lnSpc>
                <a:spcPts val="1250"/>
              </a:lnSpc>
              <a:buSzPct val="100000"/>
              <a:buChar char="•"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Axios-Client mit Auto-Refresh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697480" y="34198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:5173 · Prod Vercel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897880" y="1481328"/>
            <a:ext cx="32918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16459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2" descr="/home/claude/schuladmin-praesi/icons/server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76479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29400" y="16093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Express-API</a:t>
            </a:r>
            <a:endParaRPr lang="en-US" sz="1300" dirty="0"/>
          </a:p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 · TypeScript 5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080760" y="225856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Module: auth users students classes subjects lessons timetable absences grades exports</a:t>
            </a:r>
            <a:endParaRPr lang="en-US" sz="820" dirty="0"/>
          </a:p>
        </p:txBody>
      </p:sp>
      <p:sp>
        <p:nvSpPr>
          <p:cNvPr id="21" name="Text 16"/>
          <p:cNvSpPr/>
          <p:nvPr/>
        </p:nvSpPr>
        <p:spPr>
          <a:xfrm>
            <a:off x="6080760" y="287121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 pro Modul: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 → validate(zod) → controller → service → prisma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080760" y="34198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:3001 · Prod Railway (Docker)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10012680" y="1755648"/>
            <a:ext cx="1783080" cy="1737360"/>
          </a:xfrm>
          <a:prstGeom prst="roundRect">
            <a:avLst>
              <a:gd name="adj" fmla="val 368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pic>
        <p:nvPicPr>
          <p:cNvPr id="24" name="Image 3" descr="/home/claude/schuladmin-praesi/icons/databas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28" y="193852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104120" y="250545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mysql_data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aktiv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:3307→3306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1993392" y="2624328"/>
            <a:ext cx="493776" cy="0"/>
          </a:xfrm>
          <a:prstGeom prst="line">
            <a:avLst/>
          </a:prstGeom>
          <a:noFill/>
          <a:ln w="2540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27" name="Text 21"/>
          <p:cNvSpPr/>
          <p:nvPr/>
        </p:nvSpPr>
        <p:spPr>
          <a:xfrm>
            <a:off x="1673352" y="231343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A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</a:t>
            </a:r>
            <a:endParaRPr lang="en-US" sz="820" dirty="0"/>
          </a:p>
        </p:txBody>
      </p:sp>
      <p:sp>
        <p:nvSpPr>
          <p:cNvPr id="28" name="Shape 22"/>
          <p:cNvSpPr/>
          <p:nvPr/>
        </p:nvSpPr>
        <p:spPr>
          <a:xfrm>
            <a:off x="5376672" y="2624328"/>
            <a:ext cx="493776" cy="0"/>
          </a:xfrm>
          <a:prstGeom prst="line">
            <a:avLst/>
          </a:prstGeom>
          <a:noFill/>
          <a:ln w="2540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29" name="Text 23"/>
          <p:cNvSpPr/>
          <p:nvPr/>
        </p:nvSpPr>
        <p:spPr>
          <a:xfrm>
            <a:off x="5056632" y="231343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A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</a:t>
            </a:r>
            <a:endParaRPr lang="en-US" sz="820" dirty="0"/>
          </a:p>
        </p:txBody>
      </p:sp>
      <p:sp>
        <p:nvSpPr>
          <p:cNvPr id="30" name="Text 24"/>
          <p:cNvSpPr/>
          <p:nvPr/>
        </p:nvSpPr>
        <p:spPr>
          <a:xfrm>
            <a:off x="5056632" y="267919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A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</a:t>
            </a:r>
            <a:endParaRPr lang="en-US" sz="820" dirty="0"/>
          </a:p>
        </p:txBody>
      </p:sp>
      <p:sp>
        <p:nvSpPr>
          <p:cNvPr id="31" name="Shape 25"/>
          <p:cNvSpPr/>
          <p:nvPr/>
        </p:nvSpPr>
        <p:spPr>
          <a:xfrm>
            <a:off x="9217152" y="2624328"/>
            <a:ext cx="768096" cy="0"/>
          </a:xfrm>
          <a:prstGeom prst="line">
            <a:avLst/>
          </a:prstGeom>
          <a:noFill/>
          <a:ln w="2540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32" name="Text 26"/>
          <p:cNvSpPr/>
          <p:nvPr/>
        </p:nvSpPr>
        <p:spPr>
          <a:xfrm>
            <a:off x="8897112" y="2313432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A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</a:t>
            </a:r>
            <a:endParaRPr lang="en-US" sz="820" dirty="0"/>
          </a:p>
        </p:txBody>
      </p:sp>
      <p:sp>
        <p:nvSpPr>
          <p:cNvPr id="33" name="Text 27"/>
          <p:cNvSpPr/>
          <p:nvPr/>
        </p:nvSpPr>
        <p:spPr>
          <a:xfrm>
            <a:off x="8897112" y="2679192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A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ORM</a:t>
            </a:r>
            <a:endParaRPr lang="en-US" sz="820" dirty="0"/>
          </a:p>
        </p:txBody>
      </p:sp>
      <p:sp>
        <p:nvSpPr>
          <p:cNvPr id="34" name="Shape 28"/>
          <p:cNvSpPr/>
          <p:nvPr/>
        </p:nvSpPr>
        <p:spPr>
          <a:xfrm>
            <a:off x="411480" y="4160520"/>
            <a:ext cx="7772400" cy="960120"/>
          </a:xfrm>
          <a:prstGeom prst="roundRect">
            <a:avLst>
              <a:gd name="adj" fmla="val 6667"/>
            </a:avLst>
          </a:prstGeom>
          <a:solidFill>
            <a:srgbClr val="EEF4FC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594360" y="425196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REQUEST-PIPELINE (app.ts + Route-Middleware)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594360" y="4544568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94360" y="45445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helmet</a:t>
            </a:r>
            <a:endParaRPr lang="en-US" sz="860" dirty="0"/>
          </a:p>
        </p:txBody>
      </p:sp>
      <p:sp>
        <p:nvSpPr>
          <p:cNvPr id="38" name="Text 32"/>
          <p:cNvSpPr/>
          <p:nvPr/>
        </p:nvSpPr>
        <p:spPr>
          <a:xfrm>
            <a:off x="1229868" y="4544568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1289304" y="454456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1289304" y="4544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cors</a:t>
            </a:r>
            <a:endParaRPr lang="en-US" sz="860" dirty="0"/>
          </a:p>
        </p:txBody>
      </p:sp>
      <p:sp>
        <p:nvSpPr>
          <p:cNvPr id="41" name="Text 35"/>
          <p:cNvSpPr/>
          <p:nvPr/>
        </p:nvSpPr>
        <p:spPr>
          <a:xfrm>
            <a:off x="1787652" y="4544568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1847088" y="4544568"/>
            <a:ext cx="8458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1847088" y="4544568"/>
            <a:ext cx="84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rateLimit</a:t>
            </a:r>
            <a:endParaRPr lang="en-US" sz="860" dirty="0"/>
          </a:p>
        </p:txBody>
      </p:sp>
      <p:sp>
        <p:nvSpPr>
          <p:cNvPr id="44" name="Text 38"/>
          <p:cNvSpPr/>
          <p:nvPr/>
        </p:nvSpPr>
        <p:spPr>
          <a:xfrm>
            <a:off x="2688336" y="4544568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2747772" y="4544568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2747772" y="45445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authenticate</a:t>
            </a:r>
            <a:endParaRPr lang="en-US" sz="860" dirty="0"/>
          </a:p>
        </p:txBody>
      </p:sp>
      <p:sp>
        <p:nvSpPr>
          <p:cNvPr id="47" name="Text 41"/>
          <p:cNvSpPr/>
          <p:nvPr/>
        </p:nvSpPr>
        <p:spPr>
          <a:xfrm>
            <a:off x="3794760" y="4544568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3854196" y="4544568"/>
            <a:ext cx="98298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3854196" y="4544568"/>
            <a:ext cx="982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requireRole</a:t>
            </a:r>
            <a:endParaRPr lang="en-US" sz="860" dirty="0"/>
          </a:p>
        </p:txBody>
      </p:sp>
      <p:sp>
        <p:nvSpPr>
          <p:cNvPr id="50" name="Text 44"/>
          <p:cNvSpPr/>
          <p:nvPr/>
        </p:nvSpPr>
        <p:spPr>
          <a:xfrm>
            <a:off x="4832604" y="4544568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4892040" y="4544568"/>
            <a:ext cx="112014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4892040" y="4544568"/>
            <a:ext cx="1120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validate(zod)</a:t>
            </a:r>
            <a:endParaRPr lang="en-US" sz="860" dirty="0"/>
          </a:p>
        </p:txBody>
      </p:sp>
      <p:sp>
        <p:nvSpPr>
          <p:cNvPr id="53" name="Text 47"/>
          <p:cNvSpPr/>
          <p:nvPr/>
        </p:nvSpPr>
        <p:spPr>
          <a:xfrm>
            <a:off x="6007608" y="4544568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6067044" y="4544568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6067044" y="4544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</a:t>
            </a:r>
            <a:endParaRPr lang="en-US" sz="860" dirty="0"/>
          </a:p>
        </p:txBody>
      </p:sp>
      <p:sp>
        <p:nvSpPr>
          <p:cNvPr id="56" name="Text 50"/>
          <p:cNvSpPr/>
          <p:nvPr/>
        </p:nvSpPr>
        <p:spPr>
          <a:xfrm>
            <a:off x="6976872" y="4544568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7036308" y="4544568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7036308" y="45445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auditLog</a:t>
            </a:r>
            <a:endParaRPr lang="en-US" sz="860" dirty="0"/>
          </a:p>
        </p:txBody>
      </p:sp>
      <p:sp>
        <p:nvSpPr>
          <p:cNvPr id="59" name="Shape 53"/>
          <p:cNvSpPr/>
          <p:nvPr/>
        </p:nvSpPr>
        <p:spPr>
          <a:xfrm>
            <a:off x="8458200" y="4160520"/>
            <a:ext cx="33375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60" name="Shape 54"/>
          <p:cNvSpPr/>
          <p:nvPr/>
        </p:nvSpPr>
        <p:spPr>
          <a:xfrm>
            <a:off x="8613648" y="4343400"/>
            <a:ext cx="384048" cy="384048"/>
          </a:xfrm>
          <a:prstGeom prst="ellipse">
            <a:avLst/>
          </a:prstGeom>
          <a:solidFill>
            <a:srgbClr val="39527D"/>
          </a:solidFill>
          <a:ln/>
        </p:spPr>
      </p:sp>
      <p:pic>
        <p:nvPicPr>
          <p:cNvPr id="61" name="Image 4" descr="/home/claude/schuladmin-praesi/icons/gitbranch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3500" y="4443252"/>
            <a:ext cx="184343" cy="184343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9098280" y="4261104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packages/shared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Zod-Schemas &amp; Types – von SPA und API gemeinsam importiert</a:t>
            </a:r>
            <a:endParaRPr lang="en-US" sz="1050" dirty="0"/>
          </a:p>
        </p:txBody>
      </p:sp>
      <p:sp>
        <p:nvSpPr>
          <p:cNvPr id="63" name="Shape 56"/>
          <p:cNvSpPr/>
          <p:nvPr/>
        </p:nvSpPr>
        <p:spPr>
          <a:xfrm>
            <a:off x="411480" y="5349240"/>
            <a:ext cx="77724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64" name="Shape 57"/>
          <p:cNvSpPr/>
          <p:nvPr/>
        </p:nvSpPr>
        <p:spPr>
          <a:xfrm>
            <a:off x="566928" y="5532120"/>
            <a:ext cx="384048" cy="384048"/>
          </a:xfrm>
          <a:prstGeom prst="ellipse">
            <a:avLst/>
          </a:prstGeom>
          <a:solidFill>
            <a:srgbClr val="39527D"/>
          </a:solidFill>
          <a:ln/>
        </p:spPr>
      </p:sp>
      <p:pic>
        <p:nvPicPr>
          <p:cNvPr id="65" name="Image 5" descr="/home/claude/schuladmin-praesi/icons/bell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80" y="5631972"/>
            <a:ext cx="184343" cy="184343"/>
          </a:xfrm>
          <a:prstGeom prst="rect">
            <a:avLst/>
          </a:prstGeom>
        </p:spPr>
      </p:pic>
      <p:sp>
        <p:nvSpPr>
          <p:cNvPr id="66" name="Text 58"/>
          <p:cNvSpPr/>
          <p:nvPr/>
        </p:nvSpPr>
        <p:spPr>
          <a:xfrm>
            <a:off x="1078992" y="54406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node-cron · täglich 07:00  —  </a:t>
            </a:r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Schwellenwert-Check: Schüler mit ≥ 5 unentschuldigten Absenzen (Config-Wert) → Notification an alle aktiven Abteilungsleitungen, 7 Tage Cooldown pro Schüler.</a:t>
            </a:r>
            <a:endParaRPr lang="en-US" sz="1000" dirty="0"/>
          </a:p>
        </p:txBody>
      </p:sp>
      <p:sp>
        <p:nvSpPr>
          <p:cNvPr id="67" name="Shape 59"/>
          <p:cNvSpPr/>
          <p:nvPr/>
        </p:nvSpPr>
        <p:spPr>
          <a:xfrm>
            <a:off x="8458200" y="5349240"/>
            <a:ext cx="33375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68" name="Shape 60"/>
          <p:cNvSpPr/>
          <p:nvPr/>
        </p:nvSpPr>
        <p:spPr>
          <a:xfrm>
            <a:off x="8613648" y="5532120"/>
            <a:ext cx="384048" cy="384048"/>
          </a:xfrm>
          <a:prstGeom prst="ellipse">
            <a:avLst/>
          </a:prstGeom>
          <a:solidFill>
            <a:srgbClr val="39527D"/>
          </a:solidFill>
          <a:ln/>
        </p:spPr>
      </p:sp>
      <p:pic>
        <p:nvPicPr>
          <p:cNvPr id="69" name="Image 6" descr="/home/claude/schuladmin-praesi/icons/filetext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3500" y="5631972"/>
            <a:ext cx="184343" cy="184343"/>
          </a:xfrm>
          <a:prstGeom prst="rect">
            <a:avLst/>
          </a:prstGeom>
        </p:spPr>
      </p:pic>
      <p:sp>
        <p:nvSpPr>
          <p:cNvPr id="70" name="Text 61"/>
          <p:cNvSpPr/>
          <p:nvPr/>
        </p:nvSpPr>
        <p:spPr>
          <a:xfrm>
            <a:off x="9098280" y="5431536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Winston-Logging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combined.log · error.log · audit.log + Health-Endpoint /health (SELECT 1)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MONOREPO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Struktur: apps/ und packages/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 · Interne Team-Dokumentation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519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4160520" cy="49834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" y="1536192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home/claude/schuladmin-praesi/icons/serve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679" y="1640799"/>
            <a:ext cx="193121" cy="1931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apps/backend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2121408"/>
            <a:ext cx="3886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app.ts     Middleware-Kette + Routen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config/    env · database · logger ·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constants · timetable · upload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middleware/ auth · role · validate ·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auditLog · errorHandler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modules/   10 Fach-Module, je: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*.routes.ts      Endpunkte + Guards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*.controller.ts  HTTP-Schicht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*.service.ts     Geschäftslogik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*.schemas.ts     Zod-Validierung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(+ notifications/thresholdCheck.job)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utils/     grade · crypto · access ·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pagination · teacherAccess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prisma/       schema · 3 Migrationen · seed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tests/unit/   6 Vitest-Suites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logs/         combined · error · audit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4800600" y="1371600"/>
            <a:ext cx="3749040" cy="498348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65192" y="1536192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1" descr="/home/claude/schuladmin-praesi/icons/monitor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799" y="1640799"/>
            <a:ext cx="193121" cy="1931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apps/frontend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983480" y="2121408"/>
            <a:ext cx="3474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api/       client · endpoints · auth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(Axios + Auto-Refresh)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components/ AppShell · AuthBootstrap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ui/ Modal · Toaster ·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PageHeader · EmptyState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hooks/     useAuth · usePermissions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pages/     17 Views in 12 Bereichen: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auth · dashboard · students ·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classes · subjects · timetable ·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absences · grades · users ·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exports · reports · profile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store/     auth · toast · ui (Zustand)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router.tsx ProtectedRoute + Rollen,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alle Views lazy-loaded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8778240" y="1371600"/>
            <a:ext cx="2999232" cy="2834640"/>
          </a:xfrm>
          <a:prstGeom prst="roundRect">
            <a:avLst>
              <a:gd name="adj" fmla="val 2258"/>
            </a:avLst>
          </a:prstGeom>
          <a:solidFill>
            <a:srgbClr val="EEF4FC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942832" y="1536192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2" descr="/home/claude/schuladmin-praesi/icons/gitbranch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439" y="1640799"/>
            <a:ext cx="193121" cy="1931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46404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packages/shared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961120" y="2121408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schemas/  absence · auth ·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grade · lesson ·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student  (Zod)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types/    entities · api ·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roles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timetable/ periods.ts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als</a:t>
            </a:r>
            <a:endParaRPr lang="en-US" sz="92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@schuladmin/shared/*</a:t>
            </a:r>
            <a:endParaRPr lang="en-US" sz="920" dirty="0"/>
          </a:p>
        </p:txBody>
      </p:sp>
      <p:sp>
        <p:nvSpPr>
          <p:cNvPr id="21" name="Shape 16"/>
          <p:cNvSpPr/>
          <p:nvPr/>
        </p:nvSpPr>
        <p:spPr>
          <a:xfrm>
            <a:off x="8778240" y="4434840"/>
            <a:ext cx="2999232" cy="192024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9006840" y="461772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Monorepo?</a:t>
            </a:r>
            <a:endParaRPr lang="en-US" sz="1200" dirty="0"/>
          </a:p>
          <a:p>
            <a:pPr indent="0" marL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Zod-Schema validiert im Frontend-Formular und in der API-Route – identische Regeln, keine Duplikate.</a:t>
            </a:r>
            <a:endParaRPr lang="en-US" sz="12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wandern mit: ändert sich eine Entität, bricht der Build statt der Produktion.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DATENMODELL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– alle 17 Entitäten im Zusammenhang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566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5 · MySQL 8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PKs: cuid()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 · Interne Team-Dokumentation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384280" y="6519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3520440" cy="4224528"/>
          </a:xfrm>
          <a:prstGeom prst="roundRect">
            <a:avLst>
              <a:gd name="adj" fmla="val 2338"/>
            </a:avLst>
          </a:prstGeom>
          <a:solidFill>
            <a:srgbClr val="F5F8FD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22529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5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&amp; PERSONEN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950208" y="1170432"/>
            <a:ext cx="3310128" cy="4224528"/>
          </a:xfrm>
          <a:prstGeom prst="roundRect">
            <a:avLst>
              <a:gd name="adj" fmla="val 2486"/>
            </a:avLst>
          </a:prstGeom>
          <a:solidFill>
            <a:srgbClr val="F5F8FD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78224" y="1225296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5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UNTERRICHT · ABSENZEN · STUNDENPLAN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370064" y="1170432"/>
            <a:ext cx="2395728" cy="4224528"/>
          </a:xfrm>
          <a:prstGeom prst="roundRect">
            <a:avLst>
              <a:gd name="adj" fmla="val 3435"/>
            </a:avLst>
          </a:prstGeom>
          <a:solidFill>
            <a:srgbClr val="F5F8FD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1225296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5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NOTEN &amp; PROMOTION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9875520" y="1170432"/>
            <a:ext cx="1993392" cy="4224528"/>
          </a:xfrm>
          <a:prstGeom prst="roundRect">
            <a:avLst>
              <a:gd name="adj" fmla="val 4128"/>
            </a:avLst>
          </a:prstGeom>
          <a:solidFill>
            <a:srgbClr val="F5F8FD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03536" y="12252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5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 &amp; COMPLIANCE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75488" y="1554480"/>
            <a:ext cx="1517904" cy="1046988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1554480"/>
            <a:ext cx="1517904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1554480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9496" y="1824228"/>
            <a:ext cx="1408176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 UQ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 LEHRPERSON|ABTL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totpSecret  (AES-GCM)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deletedAt  SoftDelete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2176272" y="1554480"/>
            <a:ext cx="1517904" cy="748894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176272" y="1554480"/>
            <a:ext cx="1517904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2231136" y="1554480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40280" y="1824228"/>
            <a:ext cx="1408176" cy="474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classId  → Class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teacherId → User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475488" y="3319272"/>
            <a:ext cx="1517904" cy="748894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3319272"/>
            <a:ext cx="1517904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3319272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9496" y="3589020"/>
            <a:ext cx="1408176" cy="474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name+sem+jahr UQ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homeroomTeacher → User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2176272" y="3319272"/>
            <a:ext cx="1517904" cy="897941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176272" y="3319272"/>
            <a:ext cx="1517904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2231136" y="3319272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240280" y="3589020"/>
            <a:ext cx="1408176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classId  → Class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deletedAt  SoftDelete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nie hart löschen!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4096512" y="1554480"/>
            <a:ext cx="1481328" cy="897941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096512" y="1554480"/>
            <a:ext cx="1481328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4151376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60520" y="1824228"/>
            <a:ext cx="137160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subjectId → Subject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· start · end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isTest · isCancelled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4096512" y="3319272"/>
            <a:ext cx="1481328" cy="897941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096512" y="3319272"/>
            <a:ext cx="1481328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4151376" y="3319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60520" y="3589020"/>
            <a:ext cx="137160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student+lesson UQ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 ANW|ENT|UNENT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Arztzeugnis-Felder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recordedBy → User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5705856" y="1554480"/>
            <a:ext cx="1444752" cy="599846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05856" y="1554480"/>
            <a:ext cx="1444752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5760720" y="1554480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TimetableSlot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769864" y="1824228"/>
            <a:ext cx="1335024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class+tag+per. UQ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· teacher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5705856" y="2651760"/>
            <a:ext cx="1444752" cy="599846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705856" y="2651760"/>
            <a:ext cx="1444752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5" name="Text 43"/>
          <p:cNvSpPr/>
          <p:nvPr/>
        </p:nvSpPr>
        <p:spPr>
          <a:xfrm>
            <a:off x="5760720" y="2651760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TimetableExc.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769864" y="2921508"/>
            <a:ext cx="1335024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class+date+per. UQ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 | OVERRIDE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5705856" y="3749040"/>
            <a:ext cx="1444752" cy="599846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705856" y="3749040"/>
            <a:ext cx="1444752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9" name="Text 47"/>
          <p:cNvSpPr/>
          <p:nvPr/>
        </p:nvSpPr>
        <p:spPr>
          <a:xfrm>
            <a:off x="5760720" y="3749040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TimetableStruct.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769864" y="4018788"/>
            <a:ext cx="1335024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  UQ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| BREAK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5705856" y="4700016"/>
            <a:ext cx="1444752" cy="450799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705856" y="4700016"/>
            <a:ext cx="1444752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3" name="Text 51"/>
          <p:cNvSpPr/>
          <p:nvPr/>
        </p:nvSpPr>
        <p:spPr>
          <a:xfrm>
            <a:off x="5760720" y="470001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SchoolHoliday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769864" y="4969764"/>
            <a:ext cx="1335024" cy="176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 UQ</a:t>
            </a:r>
            <a:endParaRPr lang="en-US" sz="760" dirty="0"/>
          </a:p>
        </p:txBody>
      </p:sp>
      <p:sp>
        <p:nvSpPr>
          <p:cNvPr id="55" name="Shape 53"/>
          <p:cNvSpPr/>
          <p:nvPr/>
        </p:nvSpPr>
        <p:spPr>
          <a:xfrm>
            <a:off x="7534656" y="1554480"/>
            <a:ext cx="2048256" cy="599846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534656" y="1554480"/>
            <a:ext cx="2048256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7" name="Text 55"/>
          <p:cNvSpPr/>
          <p:nvPr/>
        </p:nvSpPr>
        <p:spPr>
          <a:xfrm>
            <a:off x="7589520" y="155448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GradeCategory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598664" y="1824228"/>
            <a:ext cx="1938528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subjectId → Subject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  (Σ = 1.0)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7534656" y="2651760"/>
            <a:ext cx="2048256" cy="897941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7534656" y="2651760"/>
            <a:ext cx="2048256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1" name="Text 59"/>
          <p:cNvSpPr/>
          <p:nvPr/>
        </p:nvSpPr>
        <p:spPr>
          <a:xfrm>
            <a:off x="7589520" y="265176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598664" y="2921508"/>
            <a:ext cx="1938528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student·subject·cat.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1.0–6.0 (0.5er)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isLocked · lockedAt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createdBy → User</a:t>
            </a:r>
            <a:endParaRPr lang="en-US" sz="760" dirty="0"/>
          </a:p>
        </p:txBody>
      </p:sp>
      <p:sp>
        <p:nvSpPr>
          <p:cNvPr id="63" name="Shape 61"/>
          <p:cNvSpPr/>
          <p:nvPr/>
        </p:nvSpPr>
        <p:spPr>
          <a:xfrm>
            <a:off x="7534656" y="3959352"/>
            <a:ext cx="2048256" cy="748894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7534656" y="3959352"/>
            <a:ext cx="2048256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5" name="Text 63"/>
          <p:cNvSpPr/>
          <p:nvPr/>
        </p:nvSpPr>
        <p:spPr>
          <a:xfrm>
            <a:off x="7589520" y="395935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GradeCorrection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598664" y="4229100"/>
            <a:ext cx="1938528" cy="474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gradeId → Grade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 → new · reason*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correctedBy → User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7534656" y="4828032"/>
            <a:ext cx="2048256" cy="450799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dash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534656" y="4828032"/>
            <a:ext cx="2048256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9" name="Text 67"/>
          <p:cNvSpPr/>
          <p:nvPr/>
        </p:nvSpPr>
        <p:spPr>
          <a:xfrm>
            <a:off x="7589520" y="482803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PromotionRule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598664" y="5097780"/>
            <a:ext cx="1938528" cy="176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class+schuljahr UQ</a:t>
            </a:r>
            <a:endParaRPr lang="en-US" sz="760" dirty="0"/>
          </a:p>
        </p:txBody>
      </p:sp>
      <p:sp>
        <p:nvSpPr>
          <p:cNvPr id="71" name="Shape 69"/>
          <p:cNvSpPr/>
          <p:nvPr/>
        </p:nvSpPr>
        <p:spPr>
          <a:xfrm>
            <a:off x="10003536" y="1554480"/>
            <a:ext cx="1737360" cy="897941"/>
          </a:xfrm>
          <a:prstGeom prst="rect">
            <a:avLst/>
          </a:prstGeom>
          <a:solidFill>
            <a:srgbClr val="FFFFFF"/>
          </a:solidFill>
          <a:ln w="1524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10003536" y="1554480"/>
            <a:ext cx="1737360" cy="23774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3" name="Text 71"/>
          <p:cNvSpPr/>
          <p:nvPr/>
        </p:nvSpPr>
        <p:spPr>
          <a:xfrm>
            <a:off x="10058400" y="155448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10067544" y="1824228"/>
            <a:ext cx="1627632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 → User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· entity(+id)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old/new  JSON-Snap.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append-only!</a:t>
            </a:r>
            <a:endParaRPr lang="en-US" sz="760" dirty="0"/>
          </a:p>
        </p:txBody>
      </p:sp>
      <p:sp>
        <p:nvSpPr>
          <p:cNvPr id="75" name="Shape 73"/>
          <p:cNvSpPr/>
          <p:nvPr/>
        </p:nvSpPr>
        <p:spPr>
          <a:xfrm>
            <a:off x="10003536" y="2862072"/>
            <a:ext cx="1737360" cy="599846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10003536" y="2862072"/>
            <a:ext cx="1737360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7" name="Text 75"/>
          <p:cNvSpPr/>
          <p:nvPr/>
        </p:nvSpPr>
        <p:spPr>
          <a:xfrm>
            <a:off x="10058400" y="286207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10067544" y="3131820"/>
            <a:ext cx="1627632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 → User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· isRead</a:t>
            </a:r>
            <a:endParaRPr lang="en-US" sz="760" dirty="0"/>
          </a:p>
        </p:txBody>
      </p:sp>
      <p:sp>
        <p:nvSpPr>
          <p:cNvPr id="79" name="Shape 77"/>
          <p:cNvSpPr/>
          <p:nvPr/>
        </p:nvSpPr>
        <p:spPr>
          <a:xfrm>
            <a:off x="10003536" y="3913632"/>
            <a:ext cx="1737360" cy="599846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dash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10003536" y="3913632"/>
            <a:ext cx="1737360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1" name="Text 79"/>
          <p:cNvSpPr/>
          <p:nvPr/>
        </p:nvSpPr>
        <p:spPr>
          <a:xfrm>
            <a:off x="10058400" y="391363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10067544" y="4183380"/>
            <a:ext cx="1627632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 PK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 (JSON)</a:t>
            </a:r>
            <a:endParaRPr lang="en-US" sz="760" dirty="0"/>
          </a:p>
        </p:txBody>
      </p:sp>
      <p:sp>
        <p:nvSpPr>
          <p:cNvPr id="83" name="Shape 81"/>
          <p:cNvSpPr/>
          <p:nvPr/>
        </p:nvSpPr>
        <p:spPr>
          <a:xfrm>
            <a:off x="1993392" y="1947672"/>
            <a:ext cx="182880" cy="0"/>
          </a:xfrm>
          <a:prstGeom prst="line">
            <a:avLst/>
          </a:prstGeom>
          <a:noFill/>
          <a:ln w="1778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1234440" y="2601468"/>
            <a:ext cx="0" cy="717804"/>
          </a:xfrm>
          <a:prstGeom prst="line">
            <a:avLst/>
          </a:prstGeom>
          <a:noFill/>
          <a:ln w="17780">
            <a:solidFill>
              <a:srgbClr val="39527D"/>
            </a:solidFill>
            <a:prstDash val="dash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1993392" y="3776472"/>
            <a:ext cx="182880" cy="0"/>
          </a:xfrm>
          <a:prstGeom prst="line">
            <a:avLst/>
          </a:prstGeom>
          <a:noFill/>
          <a:ln w="1778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 flipV="1">
            <a:off x="1874520" y="2303374"/>
            <a:ext cx="502920" cy="1015898"/>
          </a:xfrm>
          <a:prstGeom prst="line">
            <a:avLst/>
          </a:prstGeom>
          <a:noFill/>
          <a:ln w="1778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3694176" y="1947672"/>
            <a:ext cx="402336" cy="0"/>
          </a:xfrm>
          <a:prstGeom prst="line">
            <a:avLst/>
          </a:prstGeom>
          <a:noFill/>
          <a:ln w="1778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4837176" y="2452421"/>
            <a:ext cx="0" cy="866851"/>
          </a:xfrm>
          <a:prstGeom prst="line">
            <a:avLst/>
          </a:prstGeom>
          <a:noFill/>
          <a:ln w="1778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3694176" y="3776472"/>
            <a:ext cx="402336" cy="0"/>
          </a:xfrm>
          <a:prstGeom prst="line">
            <a:avLst/>
          </a:prstGeom>
          <a:noFill/>
          <a:ln w="1778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8558784" y="2154326"/>
            <a:ext cx="0" cy="497434"/>
          </a:xfrm>
          <a:prstGeom prst="line">
            <a:avLst/>
          </a:prstGeom>
          <a:noFill/>
          <a:ln w="1778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8558784" y="3549701"/>
            <a:ext cx="0" cy="409651"/>
          </a:xfrm>
          <a:prstGeom prst="line">
            <a:avLst/>
          </a:prstGeom>
          <a:noFill/>
          <a:ln w="1778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320040" y="5541264"/>
            <a:ext cx="4572000" cy="868680"/>
          </a:xfrm>
          <a:prstGeom prst="roundRect">
            <a:avLst>
              <a:gd name="adj" fmla="val 7368"/>
            </a:avLst>
          </a:prstGeom>
          <a:solidFill>
            <a:srgbClr val="EEF4FC"/>
          </a:solidFill>
          <a:ln/>
        </p:spPr>
      </p:sp>
      <p:sp>
        <p:nvSpPr>
          <p:cNvPr id="93" name="Text 91"/>
          <p:cNvSpPr/>
          <p:nvPr/>
        </p:nvSpPr>
        <p:spPr>
          <a:xfrm>
            <a:off x="484632" y="56144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LESEHILFE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484632" y="58155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——→ 1—n (Pfeilspitze zeigt zur n-Seite)   </a:t>
            </a:r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- optional   </a:t>
            </a:r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UQ Unique   </a:t>
            </a:r>
            <a:pPr indent="0" marL="0">
              <a:lnSpc>
                <a:spcPts val="1150"/>
              </a:lnSpc>
              <a:buNone/>
            </a:pPr>
            <a:r>
              <a:rPr lang="en-US" sz="82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Fremdschlüssel (kursiv)</a:t>
            </a:r>
            <a:endParaRPr lang="en-US" sz="820" dirty="0"/>
          </a:p>
        </p:txBody>
      </p:sp>
      <p:sp>
        <p:nvSpPr>
          <p:cNvPr id="95" name="Shape 93"/>
          <p:cNvSpPr/>
          <p:nvPr/>
        </p:nvSpPr>
        <p:spPr>
          <a:xfrm>
            <a:off x="5074920" y="5541264"/>
            <a:ext cx="67939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239512" y="5614416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FKs (aus Platzgründen annotiert statt gezeichnet)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5239512" y="5815584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Grade→Student·Subject · TimetableSlot/Exception→Class·Subject·User · Absence.recordedBy→User · AuditLog/Notification→User · PromotionRule→Class (logisch, per classId+schoolYear)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DATENMODELL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Kernentitäten: User, Class, Student, Subject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 · Interne Team-Dokumentation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519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/home/claude/schuladmin-praesi/icons/use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578" y="1420978"/>
            <a:ext cx="175565" cy="1755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1307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624328" y="13075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Lehrpersonen + Abteilungsleitung</a:t>
            </a:r>
            <a:endParaRPr lang="en-US" sz="84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46504"/>
          <a:ext cx="5577840" cy="914400"/>
        </p:xfrm>
        <a:graphic>
          <a:graphicData uri="http://schemas.openxmlformats.org/drawingml/2006/table">
            <a:tbl>
              <a:tblPr/>
              <a:tblGrid>
                <a:gridCol w="1896466"/>
                <a:gridCol w="1115568"/>
                <a:gridCol w="2565806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Feld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Bedeutung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C81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email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unique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passwordHash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bcrypt, 12 Rounds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role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Role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LEHRPERSON | ABTEILUNGSLEITUNG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totpSecret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String?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AES-256-GCM-verschlüsselt (nDSG)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backupCodes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String?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gehashte Codes à 10 Zeichen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refreshTokenHash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String?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 des aktiven Refresh-Tokens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C81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deletedAt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DateTime?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Delete statt Löschung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11480" y="397764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/home/claude/schuladmin-praesi/icons/bookope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8" y="4072738"/>
            <a:ext cx="175565" cy="1755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6968" y="39593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2624328" y="395935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B. INF-2023-A</a:t>
            </a:r>
            <a:endParaRPr lang="en-US" sz="84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398264"/>
          <a:ext cx="5577840" cy="914400"/>
        </p:xfrm>
        <a:graphic>
          <a:graphicData uri="http://schemas.openxmlformats.org/drawingml/2006/table">
            <a:tbl>
              <a:tblPr/>
              <a:tblGrid>
                <a:gridCol w="1896466"/>
                <a:gridCol w="1115568"/>
                <a:gridCol w="2565806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Feld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Bedeutung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C81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 · semester · schoolYear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Felder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@@unique als Tripel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homeroomTeacherId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String?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User (Klassenlehrperson)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isActive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Archivierung ohne Datenverlust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411480" y="5577840"/>
            <a:ext cx="5577840" cy="758952"/>
          </a:xfrm>
          <a:prstGeom prst="roundRect">
            <a:avLst>
              <a:gd name="adj" fmla="val 8434"/>
            </a:avLst>
          </a:prstGeom>
          <a:solidFill>
            <a:srgbClr val="EEF4FC"/>
          </a:solidFill>
          <a:ln/>
        </p:spPr>
      </p:sp>
      <p:sp>
        <p:nvSpPr>
          <p:cNvPr id="17" name="Text 11"/>
          <p:cNvSpPr/>
          <p:nvPr/>
        </p:nvSpPr>
        <p:spPr>
          <a:xfrm>
            <a:off x="594360" y="5577840"/>
            <a:ext cx="5257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PKs überall cuid(): </a:t>
            </a:r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kollisionsfrei und nicht erratbar. Integritätsregeln (@@unique) liegen auf DB-Ebene – nicht nur im Anwendungscode.</a:t>
            </a:r>
            <a:endParaRPr lang="en-US" sz="930" dirty="0"/>
          </a:p>
        </p:txBody>
      </p:sp>
      <p:sp>
        <p:nvSpPr>
          <p:cNvPr id="18" name="Shape 12"/>
          <p:cNvSpPr/>
          <p:nvPr/>
        </p:nvSpPr>
        <p:spPr>
          <a:xfrm>
            <a:off x="6263640" y="132588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9" name="Image 2" descr="/home/claude/schuladmin-praesi/icons/user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738" y="1420978"/>
            <a:ext cx="175565" cy="1755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739128" y="1307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8476488" y="13075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sensibelste Entität im System</a:t>
            </a:r>
            <a:endParaRPr lang="en-US" sz="84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46504"/>
          <a:ext cx="5532120" cy="914400"/>
        </p:xfrm>
        <a:graphic>
          <a:graphicData uri="http://schemas.openxmlformats.org/drawingml/2006/table">
            <a:tbl>
              <a:tblPr/>
              <a:tblGrid>
                <a:gridCol w="1880921"/>
                <a:gridCol w="1106424"/>
                <a:gridCol w="2544775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Feld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Bedeutung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firstName · lastName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Personendaten (nDSG)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email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String?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optional, unique falls gesetzt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dateOfBirth · gender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…?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– nur für Statistik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classId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Class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C81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deletedAt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DateTime?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 hart löschen – Noten &amp; Absenzen bleiben nachvollziehbar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15"/>
          <p:cNvSpPr/>
          <p:nvPr/>
        </p:nvSpPr>
        <p:spPr>
          <a:xfrm>
            <a:off x="6263640" y="361188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4" name="Image 3" descr="/home/claude/schuladmin-praesi/icons/bookopen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738" y="3706978"/>
            <a:ext cx="175565" cy="17556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739128" y="3593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8476488" y="35935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Dreh- und Angelpunkt</a:t>
            </a:r>
            <a:endParaRPr lang="en-US" sz="840" dirty="0"/>
          </a:p>
        </p:txBody>
      </p:sp>
      <p:graphicFrame>
        <p:nvGraphicFramePr>
          <p:cNvPr id="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032504"/>
          <a:ext cx="5532120" cy="914400"/>
        </p:xfrm>
        <a:graphic>
          <a:graphicData uri="http://schemas.openxmlformats.org/drawingml/2006/table">
            <a:tbl>
              <a:tblPr/>
              <a:tblGrid>
                <a:gridCol w="1880921"/>
                <a:gridCol w="1106424"/>
                <a:gridCol w="2544775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Feld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Bedeutung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classId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Class (genau eine Klasse)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teacherId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User (genau eine Lehrperson)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→ lessons · grades · gradeCategories · timetableSlots</a:t>
                      </a: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4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für Unterricht, Noten &amp; Stundenplan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18"/>
          <p:cNvSpPr/>
          <p:nvPr/>
        </p:nvSpPr>
        <p:spPr>
          <a:xfrm>
            <a:off x="6263640" y="5468112"/>
            <a:ext cx="5532120" cy="868680"/>
          </a:xfrm>
          <a:prstGeom prst="roundRect">
            <a:avLst>
              <a:gd name="adj" fmla="val 7368"/>
            </a:avLst>
          </a:prstGeom>
          <a:solidFill>
            <a:srgbClr val="EEF4FC"/>
          </a:solidFill>
          <a:ln/>
        </p:spPr>
      </p:sp>
      <p:sp>
        <p:nvSpPr>
          <p:cNvPr id="29" name="Text 19"/>
          <p:cNvSpPr/>
          <p:nvPr/>
        </p:nvSpPr>
        <p:spPr>
          <a:xfrm>
            <a:off x="6446520" y="5541264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Zugriffsregel (RBAC + Datenebene): </a:t>
            </a:r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Lehrpersonen sehen nur eigene Fächer/Lektionen (teacherAccess-Util), die Abteilungsleitung alles. Indexe auf email, role, classId, isActive stützen die häufigsten Abfragen.</a:t>
            </a:r>
            <a:endParaRPr lang="en-US" sz="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DATENMODELL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Stundenplan-Subsystem: Vorlage, Ausnahme, Realität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 · Interne Team-Dokumentation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519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2743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57784" y="14447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TimetableStructureRow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7784" y="17007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2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TAGESRASTER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557784" y="1920240"/>
            <a:ext cx="2487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Zeilen LESSON | BREAK mit Zeiten; period ist unique – definiert das Raster aller Klassen.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319272" y="1325880"/>
            <a:ext cx="2743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65576" y="14447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TimetableSlot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65576" y="17007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2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WOCHENVORLAGE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465576" y="1920240"/>
            <a:ext cx="2487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Wiederkehrend Mo–Fr (1–5) je Klasse: Fach, Lehrperson, Raum, isTest. @@unique(classId, dayOfWeek, period).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227064" y="1325880"/>
            <a:ext cx="2743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73368" y="14447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TimetableException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73368" y="17007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2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AUSNAHME PRO DATUM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6373368" y="1920240"/>
            <a:ext cx="2487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streicht eine Lektion, OVERRIDE ersetzt Fach/Lehrperson/Raum – ohne die Vorlage zu ändern. @@unique(classId, date, period).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9134856" y="1325880"/>
            <a:ext cx="2743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81160" y="14447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SchoolHoliday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281160" y="17007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2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SCHULFREIE TAGE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9281160" y="1920240"/>
            <a:ext cx="2487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Schulweit, date unique – an diesen Tagen findet kein Unterricht statt.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1783080" y="2944368"/>
            <a:ext cx="0" cy="292608"/>
          </a:xfrm>
          <a:prstGeom prst="line">
            <a:avLst/>
          </a:prstGeom>
          <a:noFill/>
          <a:ln w="1905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690872" y="2944368"/>
            <a:ext cx="0" cy="292608"/>
          </a:xfrm>
          <a:prstGeom prst="line">
            <a:avLst/>
          </a:prstGeom>
          <a:noFill/>
          <a:ln w="1905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98664" y="2944368"/>
            <a:ext cx="0" cy="292608"/>
          </a:xfrm>
          <a:prstGeom prst="line">
            <a:avLst/>
          </a:prstGeom>
          <a:noFill/>
          <a:ln w="1905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506456" y="2944368"/>
            <a:ext cx="0" cy="292608"/>
          </a:xfrm>
          <a:prstGeom prst="line">
            <a:avLst/>
          </a:prstGeom>
          <a:noFill/>
          <a:ln w="1905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11480" y="3273552"/>
            <a:ext cx="11365992" cy="713232"/>
          </a:xfrm>
          <a:prstGeom prst="roundRect">
            <a:avLst>
              <a:gd name="adj" fmla="val 897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" y="327355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Auflösung zum effektiven Tagesplan: 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Feiertag? → frei   ·   sonst: Vorlage (Slots) − CANCEL ± OVERRIDE = Tagesplan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4261104"/>
            <a:ext cx="5577840" cy="2084832"/>
          </a:xfrm>
          <a:prstGeom prst="roundRect">
            <a:avLst>
              <a:gd name="adj" fmla="val 3070"/>
            </a:avLst>
          </a:prstGeom>
          <a:solidFill>
            <a:srgbClr val="EEF4FC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76072" y="4425696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0" name="Image 0" descr="/home/claude/schuladmin-praesi/icons/calenda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679" y="4530303"/>
            <a:ext cx="193121" cy="193121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097280" y="44439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– die konkrete Einzellektion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1097280" y="4882896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subjectId → Subject · date · startTime/endTime ("HH:mm") · room</a:t>
            </a:r>
            <a:endParaRPr lang="en-US" sz="960" dirty="0"/>
          </a:p>
          <a:p>
            <a:pPr indent="0" marL="0">
              <a:lnSpc>
                <a:spcPts val="1250"/>
              </a:lnSpc>
              <a:spcAft>
                <a:spcPts val="500"/>
              </a:spcAft>
              <a:buNone/>
            </a:pPr>
            <a:r>
              <a:rPr lang="en-US" sz="96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isTest markiert Prüfungen – bei Absenz an Testtagen wird ein Arztzeugnis verlangt.</a:t>
            </a:r>
            <a:endParaRPr lang="en-US" sz="960" dirty="0"/>
          </a:p>
          <a:p>
            <a:pPr indent="0" marL="0">
              <a:lnSpc>
                <a:spcPts val="1250"/>
              </a:lnSpc>
              <a:spcAft>
                <a:spcPts val="500"/>
              </a:spcAft>
              <a:buNone/>
            </a:pPr>
            <a:r>
              <a:rPr lang="en-US" sz="96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isCancelled + cancelReason statt Löschung: Ausfälle bleiben dokumentiert.</a:t>
            </a:r>
            <a:endParaRPr lang="en-US" sz="96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Konfliktprüfung (Lehrperson/Raum doppelt belegt) läuft im lessons.service.</a:t>
            </a:r>
            <a:endParaRPr lang="en-US" sz="960" dirty="0"/>
          </a:p>
        </p:txBody>
      </p:sp>
      <p:sp>
        <p:nvSpPr>
          <p:cNvPr id="33" name="Shape 30"/>
          <p:cNvSpPr/>
          <p:nvPr/>
        </p:nvSpPr>
        <p:spPr>
          <a:xfrm>
            <a:off x="6263640" y="4261104"/>
            <a:ext cx="5532120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28232" y="4425696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5" name="Image 1" descr="/home/claude/schuladmin-praesi/icons/che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839" y="4530303"/>
            <a:ext cx="193121" cy="193121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6949440" y="44439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Vorlage + Ausnahme statt Einzeltermine?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6949440" y="4882896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Kompakt: </a:t>
            </a:r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Slot je Klasse/Tag/Periode statt hunderter Termin-Zeilen pro Semester.
</a:t>
            </a:r>
            <a:pPr indent="0" marL="0">
              <a:lnSpc>
                <a:spcPts val="1250"/>
              </a:lnSpc>
              <a:buNone/>
            </a:pPr>
            <a:r>
              <a:rPr lang="en-US" sz="9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Änderungssicher: </a:t>
            </a:r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Stundenplanänderung ab Datum X ändert die Vorlage, Historie bleibt korrekt.
</a:t>
            </a:r>
            <a:pPr indent="0" marL="0">
              <a:lnSpc>
                <a:spcPts val="1250"/>
              </a:lnSpc>
              <a:buNone/>
            </a:pPr>
            <a:r>
              <a:rPr lang="en-US" sz="9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Nachvollziehbar: </a:t>
            </a:r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Ausnahmen sind explizite Datensätze – wer wann was verschoben hat, ist sichtbar (Audit: TIMETABLE_IMPORTED).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DATENMODELL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Absenzen &amp; Noten: die Geschäftsregeln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 · Interne Team-Dokumentation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519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5577840" cy="5029200"/>
          </a:xfrm>
          <a:prstGeom prst="roundRect">
            <a:avLst>
              <a:gd name="adj" fmla="val 1273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home/claude/schuladmin-praesi/icons/clipboar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2763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5270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Absence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52704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Schüler × Lektion</a:t>
            </a:r>
            <a:endParaRPr lang="en-US" sz="860" dirty="0"/>
          </a:p>
        </p:txBody>
      </p:sp>
      <p:sp>
        <p:nvSpPr>
          <p:cNvPr id="11" name="Shape 8"/>
          <p:cNvSpPr/>
          <p:nvPr/>
        </p:nvSpPr>
        <p:spPr>
          <a:xfrm>
            <a:off x="594360" y="2084832"/>
            <a:ext cx="866851" cy="310896"/>
          </a:xfrm>
          <a:prstGeom prst="roundRect">
            <a:avLst>
              <a:gd name="adj" fmla="val 50000"/>
            </a:avLst>
          </a:prstGeom>
          <a:solidFill>
            <a:srgbClr val="E2ECF9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084832"/>
            <a:ext cx="8668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ANWESEND</a:t>
            </a:r>
            <a:endParaRPr lang="en-US" sz="840" dirty="0"/>
          </a:p>
        </p:txBody>
      </p:sp>
      <p:sp>
        <p:nvSpPr>
          <p:cNvPr id="13" name="Shape 10"/>
          <p:cNvSpPr/>
          <p:nvPr/>
        </p:nvSpPr>
        <p:spPr>
          <a:xfrm>
            <a:off x="1570939" y="2084832"/>
            <a:ext cx="1163117" cy="310896"/>
          </a:xfrm>
          <a:prstGeom prst="roundRect">
            <a:avLst>
              <a:gd name="adj" fmla="val 50000"/>
            </a:avLst>
          </a:prstGeom>
          <a:solidFill>
            <a:srgbClr val="E2ECF9"/>
          </a:solidFill>
          <a:ln/>
        </p:spPr>
      </p:sp>
      <p:sp>
        <p:nvSpPr>
          <p:cNvPr id="14" name="Text 11"/>
          <p:cNvSpPr/>
          <p:nvPr/>
        </p:nvSpPr>
        <p:spPr>
          <a:xfrm>
            <a:off x="1570939" y="2084832"/>
            <a:ext cx="11631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ENTSCHULDIGT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2843784" y="2084832"/>
            <a:ext cx="1311250" cy="310896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/>
        </p:spPr>
      </p:sp>
      <p:sp>
        <p:nvSpPr>
          <p:cNvPr id="16" name="Text 13"/>
          <p:cNvSpPr/>
          <p:nvPr/>
        </p:nvSpPr>
        <p:spPr>
          <a:xfrm>
            <a:off x="2843784" y="2084832"/>
            <a:ext cx="13112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UNENTSCHULDIGT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594360" y="256032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@@unique(studentId, lessonId) </a:t>
            </a:r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genau ein Eintrag pro Schüler und Lektion; Erfassen ist ein Upsert, kein Duplikat möglich.
</a:t>
            </a:r>
            <a:pPr indent="0" marL="0">
              <a:lnSpc>
                <a:spcPts val="1300"/>
              </a:lnSpc>
              <a:buNone/>
            </a:pPr>
            <a:r>
              <a:rPr lang="en-US" sz="9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Arztzeugnis: </a:t>
            </a:r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hasMedicalCertificate + Datei-Upload (Pfad, Originalname, Zeitstempel). An Testtagen (Lesson.isTest) Pflicht für Entschuldigung.
</a:t>
            </a:r>
            <a:pPr indent="0" marL="0">
              <a:lnSpc>
                <a:spcPts val="1300"/>
              </a:lnSpc>
              <a:buNone/>
            </a:pPr>
            <a:r>
              <a:rPr lang="en-US" sz="9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Verantwortung: </a:t>
            </a:r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recordedById → User dokumentiert, wer erfasst hat; Statuswechsel laufen ins Audit-Log (ABSENCE_CREATED/UPDATED).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594360" y="4370832"/>
            <a:ext cx="5212080" cy="1783080"/>
          </a:xfrm>
          <a:prstGeom prst="roundRect">
            <a:avLst>
              <a:gd name="adj" fmla="val 3590"/>
            </a:avLst>
          </a:prstGeom>
          <a:solidFill>
            <a:srgbClr val="EEF4FC"/>
          </a:solidFill>
          <a:ln/>
        </p:spPr>
      </p:sp>
      <p:sp>
        <p:nvSpPr>
          <p:cNvPr id="19" name="Shape 16"/>
          <p:cNvSpPr/>
          <p:nvPr/>
        </p:nvSpPr>
        <p:spPr>
          <a:xfrm>
            <a:off x="758952" y="4535424"/>
            <a:ext cx="384048" cy="38404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0" name="Image 1" descr="/home/claude/schuladmin-praesi/icons/bell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804" y="4635276"/>
            <a:ext cx="184343" cy="18434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261872" y="45354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Schwellenwert-Alarm (Cron, täglich 07:00)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261872" y="4956048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6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 unentschuldigte Absenzen </a:t>
            </a:r>
            <a:pPr indent="0" marL="0">
              <a:lnSpc>
                <a:spcPts val="1300"/>
              </a:lnSpc>
              <a:buNone/>
            </a:pPr>
            <a:r>
              <a:rPr lang="en-US" sz="96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(Wert aus Config, Fallback ENV) → Notification an alle aktiven Abteilungsleitungen. </a:t>
            </a:r>
            <a:pPr indent="0" marL="0">
              <a:lnSpc>
                <a:spcPts val="1300"/>
              </a:lnSpc>
              <a:buNone/>
            </a:pPr>
            <a:r>
              <a:rPr lang="en-US" sz="960" i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Tage Cooldown pro Schüler verhindert Alarm-Spam.</a:t>
            </a:r>
            <a:endParaRPr lang="en-US" sz="960" dirty="0"/>
          </a:p>
        </p:txBody>
      </p:sp>
      <p:sp>
        <p:nvSpPr>
          <p:cNvPr id="23" name="Shape 19"/>
          <p:cNvSpPr/>
          <p:nvPr/>
        </p:nvSpPr>
        <p:spPr>
          <a:xfrm>
            <a:off x="6263640" y="1325880"/>
            <a:ext cx="5532120" cy="5029200"/>
          </a:xfrm>
          <a:prstGeom prst="roundRect">
            <a:avLst>
              <a:gd name="adj" fmla="val 1273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446520" y="15087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5" name="Image 2" descr="/home/claude/schuladmin-praesi/icons/gradcap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627632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040880" y="152704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· GradeCategory · GradeCorrection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446520" y="2084832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Schweizer Skala: </a:t>
            </a:r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1.0–6.0 in 0.5er-Schritten, bestanden ab 4.0. Validierung in grade.utils (isValidSwissGrade).
</a:t>
            </a:r>
            <a:pPr indent="0" marL="0">
              <a:lnSpc>
                <a:spcPts val="1300"/>
              </a:lnSpc>
              <a:buNone/>
            </a:pPr>
            <a:r>
              <a:rPr lang="en-US" sz="9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Gewichtung: </a:t>
            </a:r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Kategorien pro Fach (z. B. Prüfung 0.6 / Projekt 0.3 / Mündlich 0.1), Summe = 1.0. Fachnote = gewichteter Schnitt, auf 0.5 gerundet (roundToHalf).
</a:t>
            </a:r>
            <a:pPr indent="0" marL="0">
              <a:lnSpc>
                <a:spcPts val="1300"/>
              </a:lnSpc>
              <a:buNone/>
            </a:pPr>
            <a:r>
              <a:rPr lang="en-US" sz="9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Promotion: </a:t>
            </a:r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PromotionRule je Klasse/Schuljahr: minAverage (z. B. 4.0) und maxFailing (max. Fächer unter 4.0) → checkPromotionConditions().</a:t>
            </a:r>
            <a:endParaRPr lang="en-US" sz="980" dirty="0"/>
          </a:p>
        </p:txBody>
      </p:sp>
      <p:sp>
        <p:nvSpPr>
          <p:cNvPr id="28" name="Shape 23"/>
          <p:cNvSpPr/>
          <p:nvPr/>
        </p:nvSpPr>
        <p:spPr>
          <a:xfrm>
            <a:off x="6446520" y="4160520"/>
            <a:ext cx="5166360" cy="1993392"/>
          </a:xfrm>
          <a:prstGeom prst="roundRect">
            <a:avLst>
              <a:gd name="adj" fmla="val 3211"/>
            </a:avLst>
          </a:prstGeom>
          <a:solidFill>
            <a:srgbClr val="1B2A4A"/>
          </a:solidFill>
          <a:ln/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6675120" y="42976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NOTENSPERRE &amp; KORREKTUR-KETTE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6675120" y="4626864"/>
            <a:ext cx="1060704" cy="658368"/>
          </a:xfrm>
          <a:prstGeom prst="roundRect">
            <a:avLst>
              <a:gd name="adj" fmla="val 8333"/>
            </a:avLst>
          </a:prstGeom>
          <a:solidFill>
            <a:srgbClr val="223558"/>
          </a:solidFill>
          <a:ln w="9525">
            <a:solidFill>
              <a:srgbClr val="39527D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675120" y="4626864"/>
            <a:ext cx="1060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Eintrag</a:t>
            </a:r>
            <a:endParaRPr lang="en-US" sz="95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Lehrperson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7735824" y="4626864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7918704" y="4626864"/>
            <a:ext cx="1060704" cy="658368"/>
          </a:xfrm>
          <a:prstGeom prst="roundRect">
            <a:avLst>
              <a:gd name="adj" fmla="val 8333"/>
            </a:avLst>
          </a:prstGeom>
          <a:solidFill>
            <a:srgbClr val="223558"/>
          </a:solidFill>
          <a:ln w="9525">
            <a:solidFill>
              <a:srgbClr val="39527D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918704" y="4626864"/>
            <a:ext cx="1060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isLocked</a:t>
            </a:r>
            <a:endParaRPr lang="en-US" sz="95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gesperrt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8979408" y="4626864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9162288" y="4626864"/>
            <a:ext cx="1060704" cy="658368"/>
          </a:xfrm>
          <a:prstGeom prst="roundRect">
            <a:avLst>
              <a:gd name="adj" fmla="val 8333"/>
            </a:avLst>
          </a:prstGeom>
          <a:solidFill>
            <a:srgbClr val="223558"/>
          </a:solidFill>
          <a:ln w="9525">
            <a:solidFill>
              <a:srgbClr val="39527D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9162288" y="4626864"/>
            <a:ext cx="1060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Korrektur</a:t>
            </a:r>
            <a:endParaRPr lang="en-US" sz="95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Leitung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10222992" y="4626864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9" name="Shape 34"/>
          <p:cNvSpPr/>
          <p:nvPr/>
        </p:nvSpPr>
        <p:spPr>
          <a:xfrm>
            <a:off x="10405872" y="4626864"/>
            <a:ext cx="1060704" cy="658368"/>
          </a:xfrm>
          <a:prstGeom prst="roundRect">
            <a:avLst>
              <a:gd name="adj" fmla="val 8333"/>
            </a:avLst>
          </a:prstGeom>
          <a:solidFill>
            <a:srgbClr val="223558"/>
          </a:solidFill>
          <a:ln w="9525">
            <a:solidFill>
              <a:srgbClr val="39527D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10405872" y="4626864"/>
            <a:ext cx="1060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5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GRADE_CORRECTED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6675120" y="5431536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GradeCorrection speichert oldValue → newValue mit Pflicht-Begründung und correctedBy – Korrekturen sind vollständig, dauerhaft und personenbezogen nachvollziehbar.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DATENMODELL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Querschnitt: Audit, Benachrichtigung, Konfiguration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 · Interne Team-Dokumentation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519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557784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524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8" name="Image 0" descr="/home/claude/schuladmin-praesi/icons/stamp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2763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52704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AuditLog  </a:t>
            </a:r>
            <a:pPr indent="0" marL="0">
              <a:buNone/>
            </a:pPr>
            <a:r>
              <a:rPr lang="en-US" sz="95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append-only, wird NIE gelöscht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048256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&amp; was: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action (15 definierte Aktionen), entityType (10 Typen) + entityId.
</a:t>
            </a:r>
            <a:pPr indent="0" marL="0">
              <a:lnSpc>
                <a:spcPts val="1350"/>
              </a:lnSpc>
              <a:buNone/>
            </a:pPr>
            <a:r>
              <a:rPr lang="en-US" sz="9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Beweisbar: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oldValue/newValue als JSON-Snapshots, dazu ipAddress und userAgent.
</a:t>
            </a:r>
            <a:pPr indent="0" marL="0">
              <a:lnSpc>
                <a:spcPts val="1350"/>
              </a:lnSpc>
              <a:buNone/>
            </a:pPr>
            <a:r>
              <a:rPr lang="en-US" sz="9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Auffindbar: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 auf userId, (entityType, entityId) und timestamp.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594360" y="331012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5A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GRADE_CORRECTED · STUDENT_DEACTIVATED · USER_ROLE_CHANGED · LESSON_CANCELLED · TIMETABLE_IMPORTED · USER_2FA_RESET · …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411480" y="3886200"/>
            <a:ext cx="269748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" y="4050792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1" descr="/home/claude/schuladmin-praesi/icons/bell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79" y="4155399"/>
            <a:ext cx="193121" cy="1931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76072" y="4572000"/>
            <a:ext cx="23957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In-App-Postfach pro User: type, title, message, isRead.
</a:t>
            </a:r>
            <a:pPr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Verweis auf Auslöser via entityType/entityId (z. B. Schüler beim Absenzen-Alarm). Index auf (userId, isRead).</a:t>
            </a:r>
            <a:endParaRPr lang="en-US" sz="920" dirty="0"/>
          </a:p>
        </p:txBody>
      </p:sp>
      <p:sp>
        <p:nvSpPr>
          <p:cNvPr id="17" name="Shape 13"/>
          <p:cNvSpPr/>
          <p:nvPr/>
        </p:nvSpPr>
        <p:spPr>
          <a:xfrm>
            <a:off x="3291840" y="3886200"/>
            <a:ext cx="269748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456432" y="4050792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9" name="Image 2" descr="/home/claude/schuladmin-praesi/icons/setting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039" y="4155399"/>
            <a:ext cx="193121" cy="19312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7764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3456432" y="4572000"/>
            <a:ext cx="23957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Key-Value-Store mit JSON-Werten – Betriebsparameter ohne Deployment ändern.
</a:t>
            </a:r>
            <a:pPr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ABSENCE_THRESHOLD steuert den Cron-Alarm; ENV-Wert dient als Fallback.</a:t>
            </a:r>
            <a:endParaRPr lang="en-US" sz="920" dirty="0"/>
          </a:p>
        </p:txBody>
      </p:sp>
      <p:sp>
        <p:nvSpPr>
          <p:cNvPr id="22" name="Shape 17"/>
          <p:cNvSpPr/>
          <p:nvPr/>
        </p:nvSpPr>
        <p:spPr>
          <a:xfrm>
            <a:off x="6263640" y="1325880"/>
            <a:ext cx="5532120" cy="2377440"/>
          </a:xfrm>
          <a:prstGeom prst="roundRect">
            <a:avLst>
              <a:gd name="adj" fmla="val 2692"/>
            </a:avLst>
          </a:prstGeom>
          <a:solidFill>
            <a:srgbClr val="EEF4FC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446520" y="14447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5 ENUMS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446520" y="1755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920" dirty="0"/>
          </a:p>
        </p:txBody>
      </p:sp>
      <p:sp>
        <p:nvSpPr>
          <p:cNvPr id="25" name="Text 20"/>
          <p:cNvSpPr/>
          <p:nvPr/>
        </p:nvSpPr>
        <p:spPr>
          <a:xfrm>
            <a:off x="8778240" y="175564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LEHRPERSON · ABTEILUNGSLEITUNG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6446520" y="21305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AbsenceStatus</a:t>
            </a:r>
            <a:endParaRPr lang="en-US" sz="920" dirty="0"/>
          </a:p>
        </p:txBody>
      </p:sp>
      <p:sp>
        <p:nvSpPr>
          <p:cNvPr id="27" name="Text 22"/>
          <p:cNvSpPr/>
          <p:nvPr/>
        </p:nvSpPr>
        <p:spPr>
          <a:xfrm>
            <a:off x="8778240" y="213055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ANWESEND · ENTSCHULDIGT · UNENTSCHULDIGT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6446520" y="250545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TimetableExceptionType</a:t>
            </a:r>
            <a:endParaRPr lang="en-US" sz="920" dirty="0"/>
          </a:p>
        </p:txBody>
      </p:sp>
      <p:sp>
        <p:nvSpPr>
          <p:cNvPr id="29" name="Text 24"/>
          <p:cNvSpPr/>
          <p:nvPr/>
        </p:nvSpPr>
        <p:spPr>
          <a:xfrm>
            <a:off x="8778240" y="250545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 · OVERRIDE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6446520" y="28803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TimetableRowType</a:t>
            </a:r>
            <a:endParaRPr lang="en-US" sz="920" dirty="0"/>
          </a:p>
        </p:txBody>
      </p:sp>
      <p:sp>
        <p:nvSpPr>
          <p:cNvPr id="31" name="Text 26"/>
          <p:cNvSpPr/>
          <p:nvPr/>
        </p:nvSpPr>
        <p:spPr>
          <a:xfrm>
            <a:off x="8778240" y="288036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· BREAK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6446520" y="3255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AuditEntityType</a:t>
            </a:r>
            <a:endParaRPr lang="en-US" sz="920" dirty="0"/>
          </a:p>
        </p:txBody>
      </p:sp>
      <p:sp>
        <p:nvSpPr>
          <p:cNvPr id="33" name="Text 28"/>
          <p:cNvSpPr/>
          <p:nvPr/>
        </p:nvSpPr>
        <p:spPr>
          <a:xfrm>
            <a:off x="8778240" y="325526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Werte: USER … MEDICAL_CERTIFICATE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6263640" y="3886200"/>
            <a:ext cx="5532120" cy="2468880"/>
          </a:xfrm>
          <a:prstGeom prst="roundRect">
            <a:avLst>
              <a:gd name="adj" fmla="val 259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6492240" y="402336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PERSISTENZ-PATTERNS IM GANZEN SCHEMA</a:t>
            </a:r>
            <a:endParaRPr lang="en-US" sz="900" dirty="0"/>
          </a:p>
        </p:txBody>
      </p:sp>
      <p:pic>
        <p:nvPicPr>
          <p:cNvPr id="36" name="Image 3" descr="/home/claude/schuladmin-praesi/icons/check-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379976"/>
            <a:ext cx="219456" cy="21945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812280" y="43525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 —  </a:t>
            </a:r>
            <a:pPr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deletedAt bei User &amp; Student – Historie bleibt konsistent</a:t>
            </a:r>
            <a:endParaRPr lang="en-US" sz="930" dirty="0"/>
          </a:p>
        </p:txBody>
      </p:sp>
      <p:pic>
        <p:nvPicPr>
          <p:cNvPr id="38" name="Image 4" descr="/home/claude/schuladmin-praesi/icons/check-i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764024"/>
            <a:ext cx="219456" cy="219456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812280" y="47365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Sperren statt Ändern  —  </a:t>
            </a:r>
            <a:pPr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Grade.isLocked + Korrektur-Entität statt UPDATE</a:t>
            </a:r>
            <a:endParaRPr lang="en-US" sz="930" dirty="0"/>
          </a:p>
        </p:txBody>
      </p:sp>
      <p:pic>
        <p:nvPicPr>
          <p:cNvPr id="40" name="Image 5" descr="/home/claude/schuladmin-praesi/icons/check-i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5148072"/>
            <a:ext cx="219456" cy="219456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812280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über Unique  —  </a:t>
            </a:r>
            <a:pPr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zusammengesetzte @@unique-Keys machen Schreiben idempotent</a:t>
            </a:r>
            <a:endParaRPr lang="en-US" sz="930" dirty="0"/>
          </a:p>
        </p:txBody>
      </p:sp>
      <p:pic>
        <p:nvPicPr>
          <p:cNvPr id="42" name="Image 6" descr="/home/claude/schuladmin-praesi/icons/check-ic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5532120"/>
            <a:ext cx="219456" cy="219456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812280" y="55046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cuid()-IDs  —  </a:t>
            </a:r>
            <a:pPr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kollisionfrei, nicht erratbar – keine fortlaufenden IDs in URLs</a:t>
            </a:r>
            <a:endParaRPr lang="en-US" sz="930" dirty="0"/>
          </a:p>
        </p:txBody>
      </p:sp>
      <p:pic>
        <p:nvPicPr>
          <p:cNvPr id="44" name="Image 7" descr="/home/claude/schuladmin-praesi/icons/check-ic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5916168"/>
            <a:ext cx="219456" cy="219456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6812280" y="58887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Gezielte Indexe  —  </a:t>
            </a:r>
            <a:pPr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@@index auf allen FK- und Filter-Spalten (status, date, role …)</a:t>
            </a:r>
            <a:endParaRPr lang="en-US" sz="9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SICHERHEIT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Authentifizierung: JWT + TOTP-2FA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 · Interne Team-Dokumentation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519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426464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26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938528"/>
            <a:ext cx="0" cy="749808"/>
          </a:xfrm>
          <a:prstGeom prst="line">
            <a:avLst/>
          </a:prstGeom>
          <a:noFill/>
          <a:ln w="19050">
            <a:solidFill>
              <a:srgbClr val="C9D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371600"/>
            <a:ext cx="5486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4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 mit E-Mail + Passwort → bcrypt.compare (12 Rounds). Identische Fehlermeldung für unbekannte und deaktivierte Konten – keine User-Enumeration.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688336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0" cy="749808"/>
          </a:xfrm>
          <a:prstGeom prst="line">
            <a:avLst/>
          </a:prstGeom>
          <a:noFill/>
          <a:ln w="19050">
            <a:solidFill>
              <a:srgbClr val="C9D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633472"/>
            <a:ext cx="5486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2FA-Prüfung</a:t>
            </a:r>
            <a:endParaRPr lang="en-US" sz="12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4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aktiviertem TOTP nur ein Temp-Token (Zweck "2fa", 15 Min gültig). Danach /auth/2fa/verify: 6-stelliger Code (±30 s Toleranz) oder einer von 8 gehashten Backup-Codes.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395020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462272"/>
            <a:ext cx="0" cy="749808"/>
          </a:xfrm>
          <a:prstGeom prst="line">
            <a:avLst/>
          </a:prstGeom>
          <a:noFill/>
          <a:ln w="19050">
            <a:solidFill>
              <a:srgbClr val="C9D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895344"/>
            <a:ext cx="5486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Token-Paar</a:t>
            </a:r>
            <a:endParaRPr lang="en-US" sz="12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4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Access-Token 15 Min als Bearer-Header; Refresh-Token 7 Tage als HttpOnly-Cookie. In der DB liegt nur der SHA-256-Hash des Refresh-Tokens.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" y="52120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5157216"/>
            <a:ext cx="5486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&amp; Logout</a:t>
            </a:r>
            <a:endParaRPr lang="en-US" sz="12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4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Refresh rotiert das Token (alter Hash wird ersetzt) – gestohlene Refresh-Tokens fliegen beim nächsten legitimen Refresh auf. Logout löscht Hash + Cookie.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0" y="1371600"/>
            <a:ext cx="4937760" cy="4983480"/>
          </a:xfrm>
          <a:prstGeom prst="roundRect">
            <a:avLst>
              <a:gd name="adj" fmla="val 1296"/>
            </a:avLst>
          </a:prstGeom>
          <a:solidFill>
            <a:srgbClr val="EEF4FC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0" y="15544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3" name="Image 0" descr="/home/claude/schuladmin-praesi/icons/lo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9752" y="1673352"/>
            <a:ext cx="219456" cy="21945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635240" y="157276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Härtung im Backend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040880" y="214884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1" descr="/home/claude/schuladmin-praesi/icons/key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978" y="2243938"/>
            <a:ext cx="175565" cy="17556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543800" y="2103120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TOTP-Secrets AES-256-GCM-verschlüsselt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4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Schlüssel via scrypt abgeleitet (ENCRYPTION_KEY, Fallback JWT_SECRET) – nie Klartext in der DB.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7040880" y="2843784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9" name="Image 2" descr="/home/claude/schuladmin-praesi/icons/shiel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978" y="2938882"/>
            <a:ext cx="175565" cy="17556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543800" y="2798064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Helmet: CSP + HSTS (1 Jahr)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4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defaultSrc 'self', kein Fremd-Script; X-Frame-Options gegen Clickjacking.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7040880" y="35387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2" name="Image 3" descr="/home/claude/schuladmin-praesi/icons/networ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978" y="3633826"/>
            <a:ext cx="175565" cy="17556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543800" y="3493008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CORS-Whitelist + Cookies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4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ALLOWED_ORIGINS, credentials: true einzig fürs Refresh-Cookie.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7040880" y="423367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5" name="Image 4" descr="/home/claude/schuladmin-praesi/icons/alert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5978" y="4328770"/>
            <a:ext cx="175565" cy="17556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543800" y="4187952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Rate-Limiting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4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Requests / 15 Min / IP auf /api – bremst Brute-Force und Scraping.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7040880" y="4928616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8" name="Image 5" descr="/home/claude/schuladmin-praesi/icons/listchecks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5978" y="5023714"/>
            <a:ext cx="175565" cy="175565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543800" y="4882896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an jeder Schreibroute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4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validate-Middleware parst &amp; typisiert den Body, bevor Controller-Code läuft.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7040880" y="562356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1" name="Image 6" descr="/home/claude/schuladmin-praesi/icons/stamp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5978" y="5718658"/>
            <a:ext cx="175565" cy="175565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543800" y="5577840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Audit-Middleware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4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Kritische Aktionen landen mit IP + User-Agent im unveränderlichen AuditLog.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DATENSCHUTZ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nDSG-Compliance: Prinzip → Umsetzung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 · Interne Team-Dokumentation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519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Revidiertes Schweizer Datenschutzgesetz, in Kraft seit 01.09.2023. Besonders relevant: Daten von Minderjährigen.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1136599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828800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0" descr="/home/claude/schuladmin-praesi/icons/scal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434" y="1938162"/>
            <a:ext cx="201900" cy="2019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700784"/>
            <a:ext cx="2148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Nachvollziehbarkeit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383280" y="1700784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kritische Aktion ist einer Person zuordenbar</a:t>
            </a:r>
            <a:endParaRPr lang="en-US" sz="900" dirty="0"/>
          </a:p>
        </p:txBody>
      </p:sp>
      <p:pic>
        <p:nvPicPr>
          <p:cNvPr id="12" name="Image 1" descr="/home/claude/schuladmin-praesi/icons/arrowright-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92938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12280" y="1700784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Unveränderliches AuditLog mit 15 Aktionstypen, JSON-Snapshots, IP &amp; User-Agent; GradeCorrection mit Pflicht-Begründung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11480" y="2560320"/>
            <a:ext cx="11365992" cy="822960"/>
          </a:xfrm>
          <a:prstGeom prst="roundRect">
            <a:avLst>
              <a:gd name="adj" fmla="val 7778"/>
            </a:avLst>
          </a:prstGeom>
          <a:solidFill>
            <a:srgbClr val="EEF4FC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6072" y="2761488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/home/claude/schuladmin-praesi/icons/databas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" y="2870850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2633472"/>
            <a:ext cx="2148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Aufbewahrung statt Löschung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383280" y="263347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Noten &amp; Absenzen müssen belegbar bleiben (Art. 6: Fristen beachten)</a:t>
            </a:r>
            <a:endParaRPr lang="en-US" sz="900" dirty="0"/>
          </a:p>
        </p:txBody>
      </p:sp>
      <p:pic>
        <p:nvPicPr>
          <p:cNvPr id="19" name="Image 3" descr="/home/claude/schuladmin-praesi/icons/arrowright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86207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12280" y="2633472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via deletedAt bei User &amp; Student; isActive-Archivierung bei Class/Subject; Lösch-Policy folgt nach Klärung der Fristen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11480" y="3493008"/>
            <a:ext cx="1136599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76072" y="3694176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3" name="Image 4" descr="/home/claude/schuladmin-praesi/icons/lock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434" y="3803538"/>
            <a:ext cx="201900" cy="2019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43000" y="3566160"/>
            <a:ext cx="2148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Datensicherheit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383280" y="3566160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Angemessene technische Massnahmen</a:t>
            </a:r>
            <a:endParaRPr lang="en-US" sz="900" dirty="0"/>
          </a:p>
        </p:txBody>
      </p:sp>
      <p:pic>
        <p:nvPicPr>
          <p:cNvPr id="26" name="Image 5" descr="/home/claude/schuladmin-praesi/icons/arrowright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794760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12280" y="3566160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Pflicht-2FA, bcrypt 12 Rounds, AES-256-GCM für TOTP-Secrets, HttpOnly-Refresh-Cookie, HSTS/CSP, Rate-Limiting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411480" y="4425696"/>
            <a:ext cx="11365992" cy="822960"/>
          </a:xfrm>
          <a:prstGeom prst="roundRect">
            <a:avLst>
              <a:gd name="adj" fmla="val 7778"/>
            </a:avLst>
          </a:prstGeom>
          <a:solidFill>
            <a:srgbClr val="EEF4FC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576072" y="4626864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0" name="Image 6" descr="/home/claude/schuladmin-praesi/icons/users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434" y="4736226"/>
            <a:ext cx="201900" cy="2019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43000" y="4498848"/>
            <a:ext cx="2148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 nach Erforderlichkeit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3383280" y="4498848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wer es braucht, sieht Personendaten</a:t>
            </a:r>
            <a:endParaRPr lang="en-US" sz="900" dirty="0"/>
          </a:p>
        </p:txBody>
      </p:sp>
      <p:pic>
        <p:nvPicPr>
          <p:cNvPr id="33" name="Image 7" descr="/home/claude/schuladmin-praesi/icons/arrowright-r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4727448"/>
            <a:ext cx="219456" cy="21945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12280" y="4498848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Lehrpersonen nur eigene Fächer/Lektionen (teacherAccess), Leitungs-Funktionen (Export, Users, Korrektur) rollengeschützt in API und Router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411480" y="5358384"/>
            <a:ext cx="1136599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576072" y="5559552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7" name="Image 8" descr="/home/claude/schuladmin-praesi/icons/listchecks-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434" y="5668914"/>
            <a:ext cx="201900" cy="2019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1143000" y="5431536"/>
            <a:ext cx="2148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Datenminimierung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3383280" y="543153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wenig Personendaten wie nötig</a:t>
            </a:r>
            <a:endParaRPr lang="en-US" sz="900" dirty="0"/>
          </a:p>
        </p:txBody>
      </p:sp>
      <p:pic>
        <p:nvPicPr>
          <p:cNvPr id="40" name="Image 9" descr="/home/claude/schuladmin-praesi/icons/arrowright-r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3952" y="5660136"/>
            <a:ext cx="219456" cy="219456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812280" y="5431536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E-Mail/Geburtsdatum/Geschlecht optional; Geschlecht nur für Statistik; keine Adress- oder Gesundheitsdaten ausser Arztzeugnis-Beleg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QUALITÄT &amp; BETRIEB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Testen, Bauen, Deployen, Beobachten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 · Interne Team-Dokumentation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519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557784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home/claude/schuladmin-praesi/icons/flas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733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5727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Unit-Tests (Vitest)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21792" y="21031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absence.service</a:t>
            </a:r>
            <a:pPr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Absenz-Logik &amp; Statuswechsel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1792" y="24231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</a:t>
            </a:r>
            <a:pPr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AES-GCM Encrypt/Decrypt-Roundtrip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1792" y="27432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grade.utils</a:t>
            </a:r>
            <a:pPr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Rundung, Gewichtung, Promotion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" y="30632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lesson.schema/.validation</a:t>
            </a:r>
            <a:pPr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Zeitformate &amp; Zod-Regeln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1792" y="33832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rbac.middleware</a:t>
            </a:r>
            <a:pPr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Rollen-Guards greifen korrekt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11480" y="3977640"/>
            <a:ext cx="5577840" cy="2377440"/>
          </a:xfrm>
          <a:prstGeom prst="roundRect">
            <a:avLst>
              <a:gd name="adj" fmla="val 2692"/>
            </a:avLst>
          </a:prstGeom>
          <a:solidFill>
            <a:srgbClr val="EEF4FC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41605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1" descr="/home/claude/schuladmin-praesi/icons/wrench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7939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88720" y="417880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Entwicklungsumgebung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21792" y="4709160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6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up -d </a:t>
            </a:r>
            <a:pPr indent="0" marL="0">
              <a:lnSpc>
                <a:spcPts val="1300"/>
              </a:lnSpc>
              <a:buNone/>
            </a:pPr>
            <a:r>
              <a:rPr lang="en-US" sz="96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MySQL (Healthcheck) + Backend (ts-node-dev, Hot-Reload) + Frontend (Vite --host).
</a:t>
            </a:r>
            <a:pPr indent="0" marL="0">
              <a:lnSpc>
                <a:spcPts val="1300"/>
              </a:lnSpc>
              <a:buNone/>
            </a:pPr>
            <a:r>
              <a:rPr lang="en-US" sz="9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&amp; Seed: </a:t>
            </a:r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 migrate dev + prisma db seed im Backend-Container.
</a:t>
            </a:r>
            <a:pPr indent="0" marL="0">
              <a:lnSpc>
                <a:spcPts val="1300"/>
              </a:lnSpc>
              <a:buNone/>
            </a:pPr>
            <a:r>
              <a:rPr lang="en-US" sz="9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Code-Qualität: </a:t>
            </a:r>
            <a:pPr indent="0" marL="0">
              <a:lnSpc>
                <a:spcPts val="1300"/>
              </a:lnSpc>
              <a:buNone/>
            </a:pPr>
            <a:r>
              <a:rPr lang="en-US" sz="96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+ Prettier, strikte tsconfigs in allen drei Paketen.</a:t>
            </a:r>
            <a:endParaRPr lang="en-US" sz="960" dirty="0"/>
          </a:p>
        </p:txBody>
      </p:sp>
      <p:sp>
        <p:nvSpPr>
          <p:cNvPr id="20" name="Shape 16"/>
          <p:cNvSpPr/>
          <p:nvPr/>
        </p:nvSpPr>
        <p:spPr>
          <a:xfrm>
            <a:off x="6263640" y="1371600"/>
            <a:ext cx="553212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46520" y="15544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2" descr="/home/claude/schuladmin-praesi/icons/clou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673352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040880" y="15727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Produktion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473952" y="2103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→ Railway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88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Docker-Build; Start: prisma migrate deploy &amp;&amp; node dist/app.js – Migrationen laufen automatisch vor dem Serverstart.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473952" y="26700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Vercel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88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Statischer Vite-Build, SPA-Rewrites via vercel.json; API-URL über VITE_API_URL.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473952" y="323697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Betriebssignale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88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prüft die DB (SELECT 1) · trust proxy für korrekte Client-IPs · Graceful Shutdown bei SIGTERM (Server schliessen, Prisma trennen).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263640" y="3977640"/>
            <a:ext cx="5532120" cy="2377440"/>
          </a:xfrm>
          <a:prstGeom prst="roundRect">
            <a:avLst>
              <a:gd name="adj" fmla="val 269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446520" y="4160520"/>
            <a:ext cx="457200" cy="457200"/>
          </a:xfrm>
          <a:prstGeom prst="ellipse">
            <a:avLst/>
          </a:prstGeom>
          <a:solidFill>
            <a:srgbClr val="223558"/>
          </a:solidFill>
          <a:ln/>
        </p:spPr>
      </p:sp>
      <p:pic>
        <p:nvPicPr>
          <p:cNvPr id="29" name="Image 3" descr="/home/claude/schuladmin-praesi/icons/filetext-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279392"/>
            <a:ext cx="219456" cy="21945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40880" y="417880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Nachvollziehbarkeit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6473952" y="470916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6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Winston, strukturiert (JSON): </a:t>
            </a:r>
            <a:pPr indent="0" marL="0">
              <a:lnSpc>
                <a:spcPts val="135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combined.log für alles, error.log für Fehler, audit.log als Datei-Spiegel der Audit-Events.
</a:t>
            </a:r>
            <a:pPr indent="0" marL="0">
              <a:lnSpc>
                <a:spcPts val="135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Log-Level via LOG_LEVEL, Pfad via LOG_FILE_PATH – </a:t>
            </a:r>
            <a:pPr indent="0" marL="0">
              <a:lnSpc>
                <a:spcPts val="1350"/>
              </a:lnSpc>
              <a:buNone/>
            </a:pPr>
            <a:r>
              <a:rPr lang="en-US" sz="96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 zentral einsammelbar.
</a:t>
            </a:r>
            <a:pPr indent="0" marL="0">
              <a:lnSpc>
                <a:spcPts val="135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DB-AuditLog bleibt die juristische Quelle; Dateien sind Betriebs-Komfort.</a:t>
            </a:r>
            <a:endParaRPr lang="en-US" sz="9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AUSBLICK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Punkte &amp;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 · Interne Team-Dokumentation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519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6675120" cy="4983480"/>
          </a:xfrm>
          <a:prstGeom prst="roundRect">
            <a:avLst>
              <a:gd name="adj" fmla="val 1284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8" name="Image 0" descr="/home/claude/schuladmin-praesi/icons/aler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733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572768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klären mit der Abteilungsleitung </a:t>
            </a:r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(docs/offene-punkte.md)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2185416"/>
            <a:ext cx="365760" cy="347472"/>
          </a:xfrm>
          <a:prstGeom prst="roundRect">
            <a:avLst>
              <a:gd name="adj" fmla="val 15789"/>
            </a:avLst>
          </a:prstGeom>
          <a:solidFill>
            <a:srgbClr val="FBEAEC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21854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97280" y="2130552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Zeugnis-/Diplomvorlage  —  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Layout der offiziellen Vorlage  </a:t>
            </a:r>
            <a:pPr indent="0" marL="0">
              <a:lnSpc>
                <a:spcPts val="1200"/>
              </a:lnSpc>
              <a:buNone/>
            </a:pPr>
            <a:r>
              <a:rPr lang="en-US" sz="84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(blockiert Phase 3: Zeugnis-Export)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594360" y="2880360"/>
            <a:ext cx="365760" cy="347472"/>
          </a:xfrm>
          <a:prstGeom prst="roundRect">
            <a:avLst>
              <a:gd name="adj" fmla="val 15789"/>
            </a:avLst>
          </a:prstGeom>
          <a:solidFill>
            <a:srgbClr val="FBEAEC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8803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97280" y="2825496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Stundenplan-Importformat  —  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Excel-Spaltenstruktur der Schule  </a:t>
            </a:r>
            <a:pPr indent="0" marL="0">
              <a:lnSpc>
                <a:spcPts val="1200"/>
              </a:lnSpc>
              <a:buNone/>
            </a:pPr>
            <a:r>
              <a:rPr lang="en-US" sz="84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(blockiert Phase 1: Import)</a:t>
            </a:r>
            <a:endParaRPr lang="en-US" sz="970" dirty="0"/>
          </a:p>
        </p:txBody>
      </p:sp>
      <p:sp>
        <p:nvSpPr>
          <p:cNvPr id="16" name="Shape 13"/>
          <p:cNvSpPr/>
          <p:nvPr/>
        </p:nvSpPr>
        <p:spPr>
          <a:xfrm>
            <a:off x="594360" y="3575304"/>
            <a:ext cx="365760" cy="347472"/>
          </a:xfrm>
          <a:prstGeom prst="roundRect">
            <a:avLst>
              <a:gd name="adj" fmla="val 15789"/>
            </a:avLst>
          </a:prstGeom>
          <a:solidFill>
            <a:srgbClr val="FBEAEC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35753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97280" y="352044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Notenskala im Detail  —  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0.5er-Schritte oder freie Dezimalstellen?  </a:t>
            </a:r>
            <a:pPr indent="0" marL="0">
              <a:lnSpc>
                <a:spcPts val="1200"/>
              </a:lnSpc>
              <a:buNone/>
            </a:pPr>
            <a:r>
              <a:rPr lang="en-US" sz="84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(blockiert Phase 2: Noten)</a:t>
            </a:r>
            <a:endParaRPr lang="en-US" sz="970" dirty="0"/>
          </a:p>
        </p:txBody>
      </p:sp>
      <p:sp>
        <p:nvSpPr>
          <p:cNvPr id="19" name="Shape 16"/>
          <p:cNvSpPr/>
          <p:nvPr/>
        </p:nvSpPr>
        <p:spPr>
          <a:xfrm>
            <a:off x="594360" y="4270248"/>
            <a:ext cx="365760" cy="347472"/>
          </a:xfrm>
          <a:prstGeom prst="roundRect">
            <a:avLst>
              <a:gd name="adj" fmla="val 15789"/>
            </a:avLst>
          </a:prstGeom>
          <a:solidFill>
            <a:srgbClr val="FBEAEC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42702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97280" y="4215384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Promotionsreglement  —  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Gibt es ein offizielles Reglement?  </a:t>
            </a:r>
            <a:pPr indent="0" marL="0">
              <a:lnSpc>
                <a:spcPts val="1200"/>
              </a:lnSpc>
              <a:buNone/>
            </a:pPr>
            <a:r>
              <a:rPr lang="en-US" sz="84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(blockiert Phase 2: Promotion)</a:t>
            </a:r>
            <a:endParaRPr lang="en-US" sz="970" dirty="0"/>
          </a:p>
        </p:txBody>
      </p:sp>
      <p:sp>
        <p:nvSpPr>
          <p:cNvPr id="22" name="Shape 19"/>
          <p:cNvSpPr/>
          <p:nvPr/>
        </p:nvSpPr>
        <p:spPr>
          <a:xfrm>
            <a:off x="594360" y="4965192"/>
            <a:ext cx="365760" cy="347472"/>
          </a:xfrm>
          <a:prstGeom prst="roundRect">
            <a:avLst>
              <a:gd name="adj" fmla="val 15789"/>
            </a:avLst>
          </a:prstGeom>
          <a:solidFill>
            <a:srgbClr val="FBEAEC"/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" y="49651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97280" y="491032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Betrieb  —  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Eigener Server oder Cloud? Wer betreibt nach Lehrvertragsende?  </a:t>
            </a:r>
            <a:pPr indent="0" marL="0">
              <a:lnSpc>
                <a:spcPts val="1200"/>
              </a:lnSpc>
              <a:buNone/>
            </a:pPr>
            <a:r>
              <a:rPr lang="en-US" sz="84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(DevOps &amp; Übergabe)</a:t>
            </a:r>
            <a:endParaRPr lang="en-US" sz="970" dirty="0"/>
          </a:p>
        </p:txBody>
      </p:sp>
      <p:sp>
        <p:nvSpPr>
          <p:cNvPr id="25" name="Shape 22"/>
          <p:cNvSpPr/>
          <p:nvPr/>
        </p:nvSpPr>
        <p:spPr>
          <a:xfrm>
            <a:off x="594360" y="5660136"/>
            <a:ext cx="365760" cy="347472"/>
          </a:xfrm>
          <a:prstGeom prst="roundRect">
            <a:avLst>
              <a:gd name="adj" fmla="val 15789"/>
            </a:avLst>
          </a:prstGeom>
          <a:solidFill>
            <a:srgbClr val="FBEAEC"/>
          </a:solidFill>
          <a:ln/>
        </p:spPr>
      </p:sp>
      <p:sp>
        <p:nvSpPr>
          <p:cNvPr id="26" name="Text 23"/>
          <p:cNvSpPr/>
          <p:nvPr/>
        </p:nvSpPr>
        <p:spPr>
          <a:xfrm>
            <a:off x="594360" y="566013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97280" y="5605272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nDSG-Details  —  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Datenschutzbeauftragte(r)? Aufbewahrungsfristen? Schüler-Selbstzugriff?  </a:t>
            </a:r>
            <a:pPr indent="0" marL="0">
              <a:lnSpc>
                <a:spcPts val="1200"/>
              </a:lnSpc>
              <a:buNone/>
            </a:pPr>
            <a:r>
              <a:rPr lang="en-US" sz="84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(Compliance &amp; Rollenmodell)</a:t>
            </a:r>
            <a:endParaRPr lang="en-US" sz="970" dirty="0"/>
          </a:p>
        </p:txBody>
      </p:sp>
      <p:sp>
        <p:nvSpPr>
          <p:cNvPr id="28" name="Shape 25"/>
          <p:cNvSpPr/>
          <p:nvPr/>
        </p:nvSpPr>
        <p:spPr>
          <a:xfrm>
            <a:off x="7360920" y="1371600"/>
            <a:ext cx="4434840" cy="4983480"/>
          </a:xfrm>
          <a:prstGeom prst="roundRect">
            <a:avLst>
              <a:gd name="adj" fmla="val 1443"/>
            </a:avLst>
          </a:prstGeom>
          <a:solidFill>
            <a:srgbClr val="EEF4FC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543800" y="15544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0" name="Image 1" descr="/home/claude/schuladmin-praesi/icons/rocke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1673352"/>
            <a:ext cx="219456" cy="21945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138160" y="157276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in Phasen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7589520" y="2258568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3" name="Shape 29"/>
          <p:cNvSpPr/>
          <p:nvPr/>
        </p:nvSpPr>
        <p:spPr>
          <a:xfrm>
            <a:off x="7754112" y="2642616"/>
            <a:ext cx="0" cy="658368"/>
          </a:xfrm>
          <a:prstGeom prst="line">
            <a:avLst/>
          </a:prstGeom>
          <a:noFill/>
          <a:ln w="15240">
            <a:solidFill>
              <a:srgbClr val="39527D"/>
            </a:solidFill>
            <a:prstDash val="dash"/>
          </a:ln>
        </p:spPr>
      </p:sp>
      <p:sp>
        <p:nvSpPr>
          <p:cNvPr id="34" name="Text 30"/>
          <p:cNvSpPr/>
          <p:nvPr/>
        </p:nvSpPr>
        <p:spPr>
          <a:xfrm>
            <a:off x="8092440" y="2157984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Stundenplan komplett</a:t>
            </a:r>
            <a:endParaRPr lang="en-US" sz="84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Excel-Import, Stellvertretungen, Rollenmodell-Erweiterungen</a:t>
            </a:r>
            <a:endParaRPr lang="en-US" sz="840" dirty="0"/>
          </a:p>
        </p:txBody>
      </p:sp>
      <p:sp>
        <p:nvSpPr>
          <p:cNvPr id="35" name="Shape 31"/>
          <p:cNvSpPr/>
          <p:nvPr/>
        </p:nvSpPr>
        <p:spPr>
          <a:xfrm>
            <a:off x="7589520" y="3300984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6" name="Shape 32"/>
          <p:cNvSpPr/>
          <p:nvPr/>
        </p:nvSpPr>
        <p:spPr>
          <a:xfrm>
            <a:off x="7754112" y="3685032"/>
            <a:ext cx="0" cy="658368"/>
          </a:xfrm>
          <a:prstGeom prst="line">
            <a:avLst/>
          </a:prstGeom>
          <a:noFill/>
          <a:ln w="15240">
            <a:solidFill>
              <a:srgbClr val="39527D"/>
            </a:solidFill>
            <a:prstDash val="dash"/>
          </a:ln>
        </p:spPr>
      </p:sp>
      <p:sp>
        <p:nvSpPr>
          <p:cNvPr id="37" name="Text 33"/>
          <p:cNvSpPr/>
          <p:nvPr/>
        </p:nvSpPr>
        <p:spPr>
          <a:xfrm>
            <a:off x="8092440" y="32004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Noten &amp; Promotion</a:t>
            </a:r>
            <a:endParaRPr lang="en-US" sz="84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Skala-Feinheiten, Promotionsprüfung nach offiziellem Reglement</a:t>
            </a:r>
            <a:endParaRPr lang="en-US" sz="840" dirty="0"/>
          </a:p>
        </p:txBody>
      </p:sp>
      <p:sp>
        <p:nvSpPr>
          <p:cNvPr id="38" name="Shape 34"/>
          <p:cNvSpPr/>
          <p:nvPr/>
        </p:nvSpPr>
        <p:spPr>
          <a:xfrm>
            <a:off x="7589520" y="4343400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9" name="Shape 35"/>
          <p:cNvSpPr/>
          <p:nvPr/>
        </p:nvSpPr>
        <p:spPr>
          <a:xfrm>
            <a:off x="7754112" y="4727448"/>
            <a:ext cx="0" cy="658368"/>
          </a:xfrm>
          <a:prstGeom prst="line">
            <a:avLst/>
          </a:prstGeom>
          <a:noFill/>
          <a:ln w="15240">
            <a:solidFill>
              <a:srgbClr val="39527D"/>
            </a:solidFill>
            <a:prstDash val="dash"/>
          </a:ln>
        </p:spPr>
      </p:sp>
      <p:sp>
        <p:nvSpPr>
          <p:cNvPr id="40" name="Text 36"/>
          <p:cNvSpPr/>
          <p:nvPr/>
        </p:nvSpPr>
        <p:spPr>
          <a:xfrm>
            <a:off x="8092440" y="4242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Zeugnis-Export</a:t>
            </a:r>
            <a:endParaRPr lang="en-US" sz="84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Offizielle Vorlage als docxtemplater/PDF-Ausgabe</a:t>
            </a:r>
            <a:endParaRPr lang="en-US" sz="840" dirty="0"/>
          </a:p>
        </p:txBody>
      </p:sp>
      <p:sp>
        <p:nvSpPr>
          <p:cNvPr id="41" name="Shape 37"/>
          <p:cNvSpPr/>
          <p:nvPr/>
        </p:nvSpPr>
        <p:spPr>
          <a:xfrm>
            <a:off x="7589520" y="5385816"/>
            <a:ext cx="329184" cy="329184"/>
          </a:xfrm>
          <a:prstGeom prst="ellipse">
            <a:avLst/>
          </a:prstGeom>
          <a:solidFill>
            <a:srgbClr val="39527D"/>
          </a:solidFill>
          <a:ln/>
        </p:spPr>
      </p:sp>
      <p:sp>
        <p:nvSpPr>
          <p:cNvPr id="42" name="Text 38"/>
          <p:cNvSpPr/>
          <p:nvPr/>
        </p:nvSpPr>
        <p:spPr>
          <a:xfrm>
            <a:off x="8092440" y="528523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DANACH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Übergabe &amp; Betrieb</a:t>
            </a:r>
            <a:endParaRPr lang="en-US" sz="84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Betriebshandbuch, Lösch-Policy nach nDSG-Fristen, evtl. Schülerzugriff</a:t>
            </a:r>
            <a:endParaRPr lang="en-US" sz="8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19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 · Interne Team-Dokumentation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384280" y="6519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 rot="600000">
            <a:off x="-1097280" y="4480560"/>
            <a:ext cx="5669280" cy="5669280"/>
          </a:xfrm>
          <a:prstGeom prst="roundRect">
            <a:avLst>
              <a:gd name="adj" fmla="val 4839"/>
            </a:avLst>
          </a:prstGeom>
          <a:solidFill>
            <a:srgbClr val="223558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840000">
            <a:off x="9418320" y="-1463040"/>
            <a:ext cx="5120640" cy="5120640"/>
          </a:xfrm>
          <a:prstGeom prst="roundRect">
            <a:avLst>
              <a:gd name="adj" fmla="val 5357"/>
            </a:avLst>
          </a:prstGeom>
          <a:solidFill>
            <a:srgbClr val="223558">
              <a:alpha val="4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System, dem eine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Schule Daten anvertrauen kann.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475488" cy="475488"/>
          </a:xfrm>
          <a:prstGeom prst="ellipse">
            <a:avLst/>
          </a:prstGeom>
          <a:solidFill>
            <a:srgbClr val="223558"/>
          </a:solidFill>
          <a:ln/>
        </p:spPr>
      </p:sp>
      <p:pic>
        <p:nvPicPr>
          <p:cNvPr id="9" name="Image 0" descr="/home/claude/schuladmin-praesi/icons/database-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3278307"/>
            <a:ext cx="228234" cy="2282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61872" y="3099816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Durchdachtes Datenmodell</a:t>
            </a:r>
            <a:endParaRPr lang="en-US" sz="12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Entitäten mit klaren Invarianten: Unique-Keys, Soft Delete, Sperr- &amp; Korrektur-Ketten.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3154680"/>
            <a:ext cx="475488" cy="475488"/>
          </a:xfrm>
          <a:prstGeom prst="ellipse">
            <a:avLst/>
          </a:prstGeom>
          <a:solidFill>
            <a:srgbClr val="223558"/>
          </a:solidFill>
          <a:ln/>
        </p:spPr>
      </p:sp>
      <p:pic>
        <p:nvPicPr>
          <p:cNvPr id="12" name="Image 1" descr="/home/claude/schuladmin-praesi/icons/key-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547" y="3278307"/>
            <a:ext cx="228234" cy="2282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39712" y="3099816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 als Standard</a:t>
            </a:r>
            <a:endParaRPr lang="en-US" sz="12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Pflicht-2FA, Refresh-Rotation, verschlüsselte Secrets, gehärtete HTTP-Schicht.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343400"/>
            <a:ext cx="475488" cy="475488"/>
          </a:xfrm>
          <a:prstGeom prst="ellipse">
            <a:avLst/>
          </a:prstGeom>
          <a:solidFill>
            <a:srgbClr val="223558"/>
          </a:solidFill>
          <a:ln/>
        </p:spPr>
      </p:sp>
      <p:pic>
        <p:nvPicPr>
          <p:cNvPr id="15" name="Image 2" descr="/home/claude/schuladmin-praesi/icons/scale-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467027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61872" y="4288536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nDSG von Anfang an</a:t>
            </a:r>
            <a:endParaRPr lang="en-US" sz="12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Audit-Log, Nachvollziehbarkeit und Datenminimierung sind Architektur, kein Add-on.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17920" y="4343400"/>
            <a:ext cx="475488" cy="475488"/>
          </a:xfrm>
          <a:prstGeom prst="ellipse">
            <a:avLst/>
          </a:prstGeom>
          <a:solidFill>
            <a:srgbClr val="223558"/>
          </a:solidFill>
          <a:ln/>
        </p:spPr>
      </p:sp>
      <p:pic>
        <p:nvPicPr>
          <p:cNvPr id="18" name="Image 3" descr="/home/claude/schuladmin-praesi/icons/gitbranch-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547" y="4467027"/>
            <a:ext cx="228234" cy="2282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39712" y="4288536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Wartbar im Team</a:t>
            </a:r>
            <a:endParaRPr lang="en-US" sz="12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TypeScript-Monorepo, geteilte Schemas, gleiches Modul-Muster überall.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5806440"/>
            <a:ext cx="10881360" cy="0"/>
          </a:xfrm>
          <a:prstGeom prst="line">
            <a:avLst/>
          </a:prstGeom>
          <a:noFill/>
          <a:ln w="9525">
            <a:solidFill>
              <a:srgbClr val="39527D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4008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SchulAdmin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Cedric (Frontend) · Laurent (Backend) · Nima (Fullstack &amp; Projektleitung) · Nermin (DevOps)   </a:t>
            </a:r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github.com/Nerminnnnn/SchulToolKienast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SchulAdmin – Interne Team-Dokumentation</dc:title>
  <dc:subject>PptxGenJS Presentation</dc:subject>
  <dc:creator>Team SchulAdmin</dc:creator>
  <cp:lastModifiedBy>Team SchulAdmin</cp:lastModifiedBy>
  <cp:revision>1</cp:revision>
  <dcterms:created xsi:type="dcterms:W3CDTF">2026-08-18T21:06:13Z</dcterms:created>
  <dcterms:modified xsi:type="dcterms:W3CDTF">2026-08-18T21:06:13Z</dcterms:modified>
</cp:coreProperties>
</file>