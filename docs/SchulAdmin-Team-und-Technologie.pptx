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Kurzüberblick: Rollenverteilung im Team sowie Programmiersprache und Datenbank des Projekts.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Cedric: Frontend. Laurent: Backend. Nima: Fullstack über beide Ebenen plus Projektleitung. Nermin: DevOps und Betrieb.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TypeScript ist die einzige Programmiersprache im Projekt – im Frontend (React) wie im Backend (Node.js/Express). Die Datenbank ist MySQL 8, angebunden über das ORM Prisma; in der Entwicklung läuft sie im Docker-Container.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Gesamtbild des Prisma-Schemas in vier Zonen: Organisation (User, Class, Student, Subject), Unterricht mit Stundenplan-Subsystem, Noten mit Korrektur-Kette, Betrieb (AuditLog rot umrandet = append-only, wird nie gelöscht).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8321040" y="-822960"/>
            <a:ext cx="4937760" cy="4937760"/>
          </a:xfrm>
          <a:prstGeom prst="roundRect">
            <a:avLst>
              <a:gd name="adj" fmla="val 4630"/>
            </a:avLst>
          </a:prstGeom>
          <a:solidFill>
            <a:srgbClr val="22355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9509760" y="3108960"/>
            <a:ext cx="4206240" cy="4206240"/>
          </a:xfrm>
          <a:prstGeom prst="roundRect">
            <a:avLst>
              <a:gd name="adj" fmla="val 5435"/>
            </a:avLst>
          </a:prstGeom>
          <a:solidFill>
            <a:srgbClr val="223558">
              <a:alpha val="30000"/>
            </a:srgbClr>
          </a:solidFill>
          <a:ln/>
        </p:spPr>
      </p:sp>
      <p:pic>
        <p:nvPicPr>
          <p:cNvPr id="4" name="Image 0" descr="/home/claude/schuladmin-praesi/icons/shield-ice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9921240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TECHNOLOGIE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68249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</a:t>
            </a:r>
            <a:pPr algn="l" indent="0" marL="0">
              <a:buNone/>
            </a:pPr>
            <a:r>
              <a:rPr lang="en-US" sz="5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Schulverwaltungssystem für die IT Bénédict Zürich –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im Team welche Rolle hat und womit wir arbeiten.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8778240" cy="0"/>
          </a:xfrm>
          <a:prstGeom prst="line">
            <a:avLst/>
          </a:prstGeom>
          <a:noFill/>
          <a:ln w="9525">
            <a:solidFill>
              <a:srgbClr val="39527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389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681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880360" y="4389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880360" y="4681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120640" y="4389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20640" y="4681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 &amp; Projektleitung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360920" y="4389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Nermin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60920" y="4681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" y="5440680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54406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103120" y="5440680"/>
            <a:ext cx="909828" cy="365760"/>
          </a:xfrm>
          <a:prstGeom prst="roundRect">
            <a:avLst>
              <a:gd name="adj" fmla="val 50000"/>
            </a:avLst>
          </a:prstGeom>
          <a:solidFill>
            <a:srgbClr val="223558"/>
          </a:solidFill>
          <a:ln w="9525">
            <a:solidFill>
              <a:srgbClr val="39527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03120" y="5440680"/>
            <a:ext cx="909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8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6172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18. August 2026  ·  github.com/Nerminnnnn/SchulToolKienast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Rollenverteilung im Projekt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Team &amp; Technologie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28216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schuladmin-praesi/icons/monito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42186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6916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3736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737360" y="2587752"/>
            <a:ext cx="3840480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37360" y="271576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Baut die Benutzeroberfläche: Ansichten, Komponenten und Formulare der Web-App.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99632" y="141732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73952" y="1728216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1" descr="/home/claude/schuladmin-praesi/icons/serve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922" y="1942186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25512" y="16916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Laurent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525512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525512" y="2587752"/>
            <a:ext cx="3840480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25512" y="271576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Baut die Server-Seite: API-Endpunkte, Geschäftslogik und Datenbankzugriffe.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11480" y="3904488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EEF4FC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5800" y="4215384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2" descr="/home/claude/schuladmin-praesi/icons/lay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4429354"/>
            <a:ext cx="395021" cy="39502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37360" y="41788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1737360" y="4636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 &amp; PROJEKTLEITUNG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1737360" y="5074920"/>
            <a:ext cx="3840480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737360" y="5202936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Entwickelt über Frontend und Backend hinweg und leitet das Projekt: Planung, Priorisierung, Reviews.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199632" y="3904488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73952" y="4215384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9" name="Image 3" descr="/home/claude/schuladmin-praesi/icons/setting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922" y="4429354"/>
            <a:ext cx="395021" cy="39502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25512" y="41788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Nermin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7525512" y="4636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525512" y="5074920"/>
            <a:ext cx="3840480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525512" y="5202936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Verantwortet Infrastruktur und Betrieb: Docker, Deployments, Environments und Monitoring.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Womit wir arbeiten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Team &amp; Technologie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55778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9164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schuladmin-praesi/icons/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188183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7830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PROGRAMMIERSPRACHE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00200" y="20116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85800" y="2834640"/>
            <a:ext cx="5029200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0175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Sprache für das ganze Projekt: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(Web-App im Browser)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mit Express 4 (REST-API)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Geteilt: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Typen &amp; Validierungen in packages/shared – gleiche Regeln auf beiden Seiten.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1417320"/>
            <a:ext cx="553212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169164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1" descr="/home/claude/schuladmin-praesi/icons/databas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155" y="188183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17830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452360" y="20116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3200" dirty="0"/>
          </a:p>
        </p:txBody>
      </p:sp>
      <p:sp>
        <p:nvSpPr>
          <p:cNvPr id="18" name="Shape 14"/>
          <p:cNvSpPr/>
          <p:nvPr/>
        </p:nvSpPr>
        <p:spPr>
          <a:xfrm>
            <a:off x="6537960" y="2834640"/>
            <a:ext cx="4983480" cy="0"/>
          </a:xfrm>
          <a:prstGeom prst="line">
            <a:avLst/>
          </a:prstGeom>
          <a:noFill/>
          <a:ln w="9525">
            <a:solidFill>
              <a:srgbClr val="C9D7E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37960" y="3017520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Relationale Datenbank für alle Schuldaten: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Prisma 5 (ORM) – typsicher direkt aus TypeScript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Tabellen, u. a. Schüler, Klassen, Fächer, Lektionen, Absenzen, Noten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lokal in Docker (docker-compose).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11480" y="5806440"/>
            <a:ext cx="11365992" cy="502920"/>
          </a:xfrm>
          <a:prstGeom prst="roundRect">
            <a:avLst>
              <a:gd name="adj" fmla="val 12727"/>
            </a:avLst>
          </a:prstGeom>
          <a:solidFill>
            <a:srgbClr val="EEF4FC"/>
          </a:solidFill>
          <a:ln/>
        </p:spPr>
      </p:sp>
      <p:sp>
        <p:nvSpPr>
          <p:cNvPr id="21" name="Text 17"/>
          <p:cNvSpPr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 gesagt: </a:t>
            </a:r>
            <a:pPr indent="0" marL="0">
              <a:buNone/>
            </a:pPr>
            <a:r>
              <a:rPr lang="en-US" sz="11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schreiben alles in TypeScript und speichern alle Daten in MySQL 8 (angebunden über Prisma).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DATENMODELL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– alle 17 Entitäten im Zusammenhang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566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 · MySQL 8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PKs: cuid()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SchulAdmin · Team &amp; Technologie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3520440" cy="4224528"/>
          </a:xfrm>
          <a:prstGeom prst="roundRect">
            <a:avLst>
              <a:gd name="adj" fmla="val 2338"/>
            </a:avLst>
          </a:prstGeom>
          <a:solidFill>
            <a:srgbClr val="F5F8FD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22529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PERSONEN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950208" y="1170432"/>
            <a:ext cx="3310128" cy="4224528"/>
          </a:xfrm>
          <a:prstGeom prst="roundRect">
            <a:avLst>
              <a:gd name="adj" fmla="val 2486"/>
            </a:avLst>
          </a:prstGeom>
          <a:solidFill>
            <a:srgbClr val="F5F8FD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78224" y="122529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UNTERRICHT · ABSENZEN · STUNDENPLAN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370064" y="1170432"/>
            <a:ext cx="2395728" cy="4224528"/>
          </a:xfrm>
          <a:prstGeom prst="roundRect">
            <a:avLst>
              <a:gd name="adj" fmla="val 3435"/>
            </a:avLst>
          </a:prstGeom>
          <a:solidFill>
            <a:srgbClr val="F5F8FD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22529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NOTEN &amp; PROMOTION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875520" y="1170432"/>
            <a:ext cx="1993392" cy="4224528"/>
          </a:xfrm>
          <a:prstGeom prst="roundRect">
            <a:avLst>
              <a:gd name="adj" fmla="val 4128"/>
            </a:avLst>
          </a:prstGeom>
          <a:solidFill>
            <a:srgbClr val="F5F8FD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03536" y="1225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&amp; COMPLIANCE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75488" y="1554480"/>
            <a:ext cx="1517904" cy="1046988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1554480"/>
            <a:ext cx="1517904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155448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9496" y="1824228"/>
            <a:ext cx="140817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LEHRPERSON|ABTL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totpSecret  (AES-GCM)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deletedAt  SoftDelete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2176272" y="1554480"/>
            <a:ext cx="1517904" cy="748894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176272" y="1554480"/>
            <a:ext cx="1517904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2231136" y="155448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40280" y="1824228"/>
            <a:ext cx="1408176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classId  → Class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teacherId → User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475488" y="3319272"/>
            <a:ext cx="1517904" cy="748894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319272"/>
            <a:ext cx="1517904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31927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9496" y="3589020"/>
            <a:ext cx="1408176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name+sem+jahr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homeroomTeacher → User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2176272" y="3319272"/>
            <a:ext cx="1517904" cy="897941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176272" y="3319272"/>
            <a:ext cx="1517904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2231136" y="331927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40280" y="3589020"/>
            <a:ext cx="1408176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classId  → Class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deletedAt  SoftDelete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nie hart löschen!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4096512" y="1554480"/>
            <a:ext cx="1481328" cy="897941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096512" y="1554480"/>
            <a:ext cx="1481328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4151376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60520" y="1824228"/>
            <a:ext cx="13716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subjectId → Subject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· start · end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isTest · isCancelled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4096512" y="3319272"/>
            <a:ext cx="1481328" cy="897941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096512" y="3319272"/>
            <a:ext cx="1481328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4151376" y="3319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60520" y="3589020"/>
            <a:ext cx="13716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student+lesson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ANW|ENT|UNENT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Arztzeugnis-Felder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recordedBy → User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5705856" y="1554480"/>
            <a:ext cx="1444752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05856" y="1554480"/>
            <a:ext cx="1444752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5760720" y="155448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TimetableSlot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69864" y="1824228"/>
            <a:ext cx="1335024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class+tag+per.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· teacher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5705856" y="2651760"/>
            <a:ext cx="1444752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05856" y="2651760"/>
            <a:ext cx="1444752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265176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TimetableExc.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769864" y="2921508"/>
            <a:ext cx="1335024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class+date+per.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 | OVERRIDE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5705856" y="3749040"/>
            <a:ext cx="1444752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705856" y="3749040"/>
            <a:ext cx="1444752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9" name="Text 47"/>
          <p:cNvSpPr/>
          <p:nvPr/>
        </p:nvSpPr>
        <p:spPr>
          <a:xfrm>
            <a:off x="5760720" y="374904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TimetableStruct.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69864" y="4018788"/>
            <a:ext cx="1335024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 UQ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| BREAK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5705856" y="4700016"/>
            <a:ext cx="1444752" cy="450799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705856" y="4700016"/>
            <a:ext cx="1444752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3" name="Text 51"/>
          <p:cNvSpPr/>
          <p:nvPr/>
        </p:nvSpPr>
        <p:spPr>
          <a:xfrm>
            <a:off x="5760720" y="470001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SchoolHoliday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769864" y="4969764"/>
            <a:ext cx="1335024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 UQ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7534656" y="1554480"/>
            <a:ext cx="2048256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534656" y="1554480"/>
            <a:ext cx="2048256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7" name="Text 55"/>
          <p:cNvSpPr/>
          <p:nvPr/>
        </p:nvSpPr>
        <p:spPr>
          <a:xfrm>
            <a:off x="7589520" y="155448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GradeCategory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598664" y="1824228"/>
            <a:ext cx="1938528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subjectId → Subject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 (Σ = 1.0)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7534656" y="2651760"/>
            <a:ext cx="2048256" cy="897941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534656" y="2651760"/>
            <a:ext cx="2048256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1" name="Text 59"/>
          <p:cNvSpPr/>
          <p:nvPr/>
        </p:nvSpPr>
        <p:spPr>
          <a:xfrm>
            <a:off x="7589520" y="26517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598664" y="2921508"/>
            <a:ext cx="1938528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student·subject·cat.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1.0–6.0 (0.5er)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isLocked · lockedAt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createdBy → User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7534656" y="3959352"/>
            <a:ext cx="2048256" cy="748894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534656" y="3959352"/>
            <a:ext cx="2048256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5" name="Text 63"/>
          <p:cNvSpPr/>
          <p:nvPr/>
        </p:nvSpPr>
        <p:spPr>
          <a:xfrm>
            <a:off x="7589520" y="39593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GradeCorrection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598664" y="4229100"/>
            <a:ext cx="1938528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gradeId → Grade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→ new · reason*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correctedBy → User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534656" y="4828032"/>
            <a:ext cx="2048256" cy="450799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dash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534656" y="4828032"/>
            <a:ext cx="2048256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9" name="Text 67"/>
          <p:cNvSpPr/>
          <p:nvPr/>
        </p:nvSpPr>
        <p:spPr>
          <a:xfrm>
            <a:off x="7589520" y="482803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PromotionRule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598664" y="5097780"/>
            <a:ext cx="1938528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class+schuljahr UQ</a:t>
            </a:r>
            <a:endParaRPr lang="en-US" sz="760" dirty="0"/>
          </a:p>
        </p:txBody>
      </p:sp>
      <p:sp>
        <p:nvSpPr>
          <p:cNvPr id="71" name="Shape 69"/>
          <p:cNvSpPr/>
          <p:nvPr/>
        </p:nvSpPr>
        <p:spPr>
          <a:xfrm>
            <a:off x="10003536" y="1554480"/>
            <a:ext cx="1737360" cy="897941"/>
          </a:xfrm>
          <a:prstGeom prst="rect">
            <a:avLst/>
          </a:prstGeom>
          <a:solidFill>
            <a:srgbClr val="FFFFFF"/>
          </a:solidFill>
          <a:ln w="1524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0003536" y="1554480"/>
            <a:ext cx="1737360" cy="237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3" name="Text 71"/>
          <p:cNvSpPr/>
          <p:nvPr/>
        </p:nvSpPr>
        <p:spPr>
          <a:xfrm>
            <a:off x="10058400" y="155448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0067544" y="1824228"/>
            <a:ext cx="1627632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→ User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· entity(+id)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old/new  JSON-Snap.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append-only!</a:t>
            </a:r>
            <a:endParaRPr lang="en-US" sz="760" dirty="0"/>
          </a:p>
        </p:txBody>
      </p:sp>
      <p:sp>
        <p:nvSpPr>
          <p:cNvPr id="75" name="Shape 73"/>
          <p:cNvSpPr/>
          <p:nvPr/>
        </p:nvSpPr>
        <p:spPr>
          <a:xfrm>
            <a:off x="10003536" y="2862072"/>
            <a:ext cx="1737360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solid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0003536" y="2862072"/>
            <a:ext cx="1737360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7" name="Text 75"/>
          <p:cNvSpPr/>
          <p:nvPr/>
        </p:nvSpPr>
        <p:spPr>
          <a:xfrm>
            <a:off x="10058400" y="286207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067544" y="3131820"/>
            <a:ext cx="1627632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→ User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· isRead</a:t>
            </a:r>
            <a:endParaRPr lang="en-US" sz="760" dirty="0"/>
          </a:p>
        </p:txBody>
      </p:sp>
      <p:sp>
        <p:nvSpPr>
          <p:cNvPr id="79" name="Shape 77"/>
          <p:cNvSpPr/>
          <p:nvPr/>
        </p:nvSpPr>
        <p:spPr>
          <a:xfrm>
            <a:off x="10003536" y="3913632"/>
            <a:ext cx="1737360" cy="599846"/>
          </a:xfrm>
          <a:prstGeom prst="rect">
            <a:avLst/>
          </a:prstGeom>
          <a:solidFill>
            <a:srgbClr val="FFFFFF"/>
          </a:solidFill>
          <a:ln w="11430">
            <a:solidFill>
              <a:srgbClr val="9FB4D4"/>
            </a:solidFill>
            <a:prstDash val="dash"/>
          </a:ln>
          <a:effectLst>
            <a:outerShdw sx="100000" sy="100000" kx="0" ky="0" algn="bl" rotWithShape="0" blurRad="63500" dist="12700" dir="5400000">
              <a:srgbClr val="16233F">
                <a:alpha val="1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0003536" y="3913632"/>
            <a:ext cx="1737360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1" name="Text 79"/>
          <p:cNvSpPr/>
          <p:nvPr/>
        </p:nvSpPr>
        <p:spPr>
          <a:xfrm>
            <a:off x="10058400" y="391363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10067544" y="4183380"/>
            <a:ext cx="1627632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 PK</a:t>
            </a:r>
            <a:endParaRPr lang="en-US" sz="760" dirty="0"/>
          </a:p>
          <a:p>
            <a:pPr indent="0" marL="0">
              <a:lnSpc>
                <a:spcPts val="1174"/>
              </a:lnSpc>
              <a:buNone/>
            </a:pPr>
            <a:r>
              <a:rPr lang="en-US" sz="760" dirty="0">
                <a:solidFill>
                  <a:srgbClr val="33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 (JSON)</a:t>
            </a:r>
            <a:endParaRPr lang="en-US" sz="760" dirty="0"/>
          </a:p>
        </p:txBody>
      </p:sp>
      <p:sp>
        <p:nvSpPr>
          <p:cNvPr id="83" name="Shape 81"/>
          <p:cNvSpPr/>
          <p:nvPr/>
        </p:nvSpPr>
        <p:spPr>
          <a:xfrm>
            <a:off x="1993392" y="1947672"/>
            <a:ext cx="182880" cy="0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234440" y="2601468"/>
            <a:ext cx="0" cy="717804"/>
          </a:xfrm>
          <a:prstGeom prst="line">
            <a:avLst/>
          </a:prstGeom>
          <a:noFill/>
          <a:ln w="17780">
            <a:solidFill>
              <a:srgbClr val="39527D"/>
            </a:solidFill>
            <a:prstDash val="dash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1993392" y="3776472"/>
            <a:ext cx="182880" cy="0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1874520" y="2303374"/>
            <a:ext cx="502920" cy="1015898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3694176" y="1947672"/>
            <a:ext cx="402336" cy="0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4837176" y="2452421"/>
            <a:ext cx="0" cy="866851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3694176" y="3776472"/>
            <a:ext cx="402336" cy="0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8558784" y="2154326"/>
            <a:ext cx="0" cy="497434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8558784" y="3549701"/>
            <a:ext cx="0" cy="409651"/>
          </a:xfrm>
          <a:prstGeom prst="line">
            <a:avLst/>
          </a:prstGeom>
          <a:noFill/>
          <a:ln w="17780">
            <a:solidFill>
              <a:srgbClr val="39527D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20040" y="5541264"/>
            <a:ext cx="4572000" cy="868680"/>
          </a:xfrm>
          <a:prstGeom prst="roundRect">
            <a:avLst>
              <a:gd name="adj" fmla="val 7368"/>
            </a:avLst>
          </a:prstGeom>
          <a:solidFill>
            <a:srgbClr val="EEF4FC"/>
          </a:solidFill>
          <a:ln/>
        </p:spPr>
      </p:sp>
      <p:sp>
        <p:nvSpPr>
          <p:cNvPr id="93" name="Text 91"/>
          <p:cNvSpPr/>
          <p:nvPr/>
        </p:nvSpPr>
        <p:spPr>
          <a:xfrm>
            <a:off x="484632" y="5614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LESEHILFE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84632" y="58155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——→ 1—n (Pfeilspitze zeigt zur n-Seite)   </a:t>
            </a:r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- optional   </a:t>
            </a:r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UQ Unique   </a:t>
            </a:r>
            <a:pPr indent="0" marL="0">
              <a:lnSpc>
                <a:spcPts val="1150"/>
              </a:lnSpc>
              <a:buNone/>
            </a:pPr>
            <a:r>
              <a:rPr lang="en-US" sz="820" i="1" dirty="0">
                <a:solidFill>
                  <a:srgbClr val="395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Fremdschlüssel (kursiv)</a:t>
            </a:r>
            <a:endParaRPr lang="en-US" sz="820" dirty="0"/>
          </a:p>
        </p:txBody>
      </p:sp>
      <p:sp>
        <p:nvSpPr>
          <p:cNvPr id="95" name="Shape 93"/>
          <p:cNvSpPr/>
          <p:nvPr/>
        </p:nvSpPr>
        <p:spPr>
          <a:xfrm>
            <a:off x="5074920" y="5541264"/>
            <a:ext cx="6793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C9D7E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239512" y="5614416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FKs (aus Platzgründen annotiert statt gezeichnet)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239512" y="581558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1D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Grade→Student·Subject · TimetableSlot/Exception→Class·Subject·User · Absence.recordedBy→User · AuditLog/Notification→User · PromotionRule→Class (logisch, per classId+schoolYear)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SchulAdmin – Team &amp; Technologie</dc:title>
  <dc:subject>PptxGenJS Presentation</dc:subject>
  <dc:creator>Team SchulAdmin</dc:creator>
  <cp:lastModifiedBy>Team SchulAdmin</cp:lastModifiedBy>
  <cp:revision>1</cp:revision>
  <dcterms:created xsi:type="dcterms:W3CDTF">2026-08-19T05:47:59Z</dcterms:created>
  <dcterms:modified xsi:type="dcterms:W3CDTF">2026-08-19T05:47:59Z</dcterms:modified>
</cp:coreProperties>
</file>